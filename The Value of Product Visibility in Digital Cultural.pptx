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71" r:id="rId2"/>
    <p:sldId id="265" r:id="rId3"/>
    <p:sldId id="272" r:id="rId4"/>
    <p:sldId id="342" r:id="rId5"/>
    <p:sldId id="343" r:id="rId6"/>
    <p:sldId id="341" r:id="rId7"/>
    <p:sldId id="319" r:id="rId8"/>
    <p:sldId id="315" r:id="rId9"/>
    <p:sldId id="351" r:id="rId10"/>
    <p:sldId id="353" r:id="rId11"/>
    <p:sldId id="289" r:id="rId12"/>
    <p:sldId id="273" r:id="rId13"/>
    <p:sldId id="346" r:id="rId14"/>
    <p:sldId id="276" r:id="rId15"/>
    <p:sldId id="316" r:id="rId16"/>
    <p:sldId id="317" r:id="rId17"/>
    <p:sldId id="274" r:id="rId18"/>
    <p:sldId id="275" r:id="rId19"/>
    <p:sldId id="292" r:id="rId20"/>
    <p:sldId id="295" r:id="rId21"/>
    <p:sldId id="277" r:id="rId22"/>
    <p:sldId id="280" r:id="rId23"/>
    <p:sldId id="337" r:id="rId24"/>
    <p:sldId id="281" r:id="rId25"/>
    <p:sldId id="282" r:id="rId26"/>
    <p:sldId id="284" r:id="rId27"/>
    <p:sldId id="334" r:id="rId28"/>
    <p:sldId id="335" r:id="rId29"/>
    <p:sldId id="285" r:id="rId30"/>
    <p:sldId id="278" r:id="rId31"/>
    <p:sldId id="286" r:id="rId32"/>
    <p:sldId id="288" r:id="rId33"/>
    <p:sldId id="301" r:id="rId34"/>
    <p:sldId id="323" r:id="rId35"/>
    <p:sldId id="331" r:id="rId36"/>
    <p:sldId id="287" r:id="rId37"/>
    <p:sldId id="309" r:id="rId38"/>
    <p:sldId id="303" r:id="rId39"/>
    <p:sldId id="279" r:id="rId40"/>
    <p:sldId id="350" r:id="rId41"/>
    <p:sldId id="304" r:id="rId42"/>
    <p:sldId id="305" r:id="rId43"/>
    <p:sldId id="306" r:id="rId44"/>
    <p:sldId id="332" r:id="rId45"/>
    <p:sldId id="307" r:id="rId46"/>
    <p:sldId id="308" r:id="rId47"/>
    <p:sldId id="313" r:id="rId48"/>
    <p:sldId id="338" r:id="rId49"/>
    <p:sldId id="347" r:id="rId50"/>
    <p:sldId id="320" r:id="rId51"/>
    <p:sldId id="321" r:id="rId52"/>
    <p:sldId id="340" r:id="rId53"/>
    <p:sldId id="348" r:id="rId54"/>
    <p:sldId id="322" r:id="rId55"/>
    <p:sldId id="352" r:id="rId56"/>
    <p:sldId id="283" r:id="rId57"/>
    <p:sldId id="296" r:id="rId58"/>
    <p:sldId id="349" r:id="rId59"/>
    <p:sldId id="300" r:id="rId60"/>
    <p:sldId id="302" r:id="rId61"/>
    <p:sldId id="312" r:id="rId62"/>
    <p:sldId id="310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F41"/>
    <a:srgbClr val="E6E6E6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8" autoAdjust="0"/>
    <p:restoredTop sz="94660"/>
  </p:normalViewPr>
  <p:slideViewPr>
    <p:cSldViewPr snapToGrid="0">
      <p:cViewPr>
        <p:scale>
          <a:sx n="100" d="100"/>
          <a:sy n="100" d="100"/>
        </p:scale>
        <p:origin x="27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30BD93-9818-2BA4-99CE-A7FE72BCF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C747E-421B-FFC4-1192-9040169A71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8D20-EEE9-4211-8CBD-46411246684C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F0CA3-6999-2EA6-8C71-B81F70A317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5217A-9A23-49C6-5041-468942B1FF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796EE-088A-4CCD-99BF-52885D8B8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9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0838E-AC29-480F-A9EC-84EB1618A0A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C904F-5C72-4F42-B21A-2D2D38C57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00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5354-AF62-2A46-1611-FDD2ACF2E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3BFAC-0C04-7E9D-56A3-F83B151E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507F-6363-C16F-581F-12B80E5E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D2D-369C-A627-37DD-68C0A5AE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1DEA-814A-539B-7AD6-1C5F60A3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8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5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6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28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69E35-3ECE-B689-9D19-CA0764F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F6812-B166-E8CA-97C5-DA9755C69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B792-874C-CAA4-45D3-B4EA7D4D9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01F30-3DA9-45CF-0FA2-F35F0CEC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422A-6E2F-9F0E-651F-9EBCB858D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5" Type="http://schemas.openxmlformats.org/officeDocument/2006/relationships/image" Target="../media/image160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gi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slide" Target="slide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" Target="slide2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Relationship Id="rId5" Type="http://schemas.openxmlformats.org/officeDocument/2006/relationships/slide" Target="slide32.xml"/><Relationship Id="rId4" Type="http://schemas.openxmlformats.org/officeDocument/2006/relationships/image" Target="../media/image2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3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Relationship Id="rId4" Type="http://schemas.openxmlformats.org/officeDocument/2006/relationships/slide" Target="slide3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slide" Target="slide3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2FE74E-3FA4-4074-FB31-F6812B19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8FAC9-0F1C-8C7E-3C81-9ED3A31E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76" y="4726162"/>
            <a:ext cx="3892296" cy="106009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2A2F1B-7418-576F-FD17-C331F408FDFD}"/>
              </a:ext>
            </a:extLst>
          </p:cNvPr>
          <p:cNvSpPr txBox="1">
            <a:spLocks/>
          </p:cNvSpPr>
          <p:nvPr/>
        </p:nvSpPr>
        <p:spPr>
          <a:xfrm>
            <a:off x="908446" y="1122363"/>
            <a:ext cx="10375107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in Cultural Marketplaces: Evidence from </a:t>
            </a:r>
            <a:r>
              <a:rPr lang="en-US" altLang="zh-CN" sz="3200" b="1" dirty="0">
                <a:latin typeface="Bell MT" panose="02020503060305020303" pitchFamily="18" charset="0"/>
              </a:rPr>
              <a:t>an </a:t>
            </a:r>
            <a:r>
              <a:rPr lang="en-US" sz="3200" b="1" dirty="0">
                <a:latin typeface="Bell MT" panose="02020503060305020303" pitchFamily="18" charset="0"/>
              </a:rPr>
              <a:t>Online Music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CA9A7-F341-83D4-F049-53CA0432A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80" y="4894148"/>
            <a:ext cx="3131353" cy="7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51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E70B1EE2-9334-21A2-996F-C8BDDBF8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88755"/>
              </p:ext>
            </p:extLst>
          </p:nvPr>
        </p:nvGraphicFramePr>
        <p:xfrm>
          <a:off x="2239962" y="1122045"/>
          <a:ext cx="7254875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617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239645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0016120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657488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</a:t>
                      </a:r>
                      <a:r>
                        <a:rPr lang="en-US" altLang="zh-CN" sz="1600" dirty="0">
                          <a:latin typeface="Bell MT" panose="02020503060305020303" pitchFamily="18" charset="0"/>
                        </a:rPr>
                        <a:t>Design</a:t>
                      </a:r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9F697DEE-DD45-C884-633E-EC7346B7A212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sz="1800" b="1" dirty="0">
                <a:latin typeface="Bell MT" panose="02020503060305020303" pitchFamily="18" charset="0"/>
              </a:rPr>
              <a:t>Zijing “Jimmy” Hu, Yan “Lucy” Liu. The value of discoverability in cultural marketplaces: Evidence from an online music platform. (</a:t>
            </a:r>
            <a:r>
              <a:rPr lang="en-US" sz="1800" b="1" u="sng" dirty="0">
                <a:latin typeface="Bell MT" panose="02020503060305020303" pitchFamily="18" charset="0"/>
              </a:rPr>
              <a:t>Job Market Paper</a:t>
            </a:r>
            <a:r>
              <a:rPr lang="en-US" sz="1800" b="1" dirty="0">
                <a:latin typeface="Bell MT" panose="02020503060305020303" pitchFamily="18" charset="0"/>
              </a:rPr>
              <a:t>: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dirty="0">
                <a:latin typeface="Bell MT" panose="02020503060305020303" pitchFamily="18" charset="0"/>
              </a:rPr>
              <a:t>targeting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Marketing</a:t>
            </a:r>
            <a:r>
              <a:rPr lang="zh-CN" altLang="en-US" sz="1800" b="1" i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Science</a:t>
            </a:r>
            <a:r>
              <a:rPr lang="en-US" sz="1800" b="1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(</a:t>
            </a:r>
            <a:r>
              <a:rPr lang="en-US" sz="1800" u="sng" dirty="0">
                <a:latin typeface="Bell MT" panose="02020503060305020303" pitchFamily="18" charset="0"/>
              </a:rPr>
              <a:t>Revise &amp; </a:t>
            </a:r>
            <a:r>
              <a:rPr lang="en-US" altLang="zh-CN" sz="1800" u="sng" dirty="0">
                <a:latin typeface="Bell MT" panose="02020503060305020303" pitchFamily="18" charset="0"/>
              </a:rPr>
              <a:t>R</a:t>
            </a:r>
            <a:r>
              <a:rPr lang="en-US" sz="1800" u="sng" dirty="0">
                <a:latin typeface="Bell MT" panose="02020503060305020303" pitchFamily="18" charset="0"/>
              </a:rPr>
              <a:t>esubmit</a:t>
            </a:r>
            <a:r>
              <a:rPr lang="en-US" sz="1800" dirty="0">
                <a:latin typeface="Bell MT" panose="02020503060305020303" pitchFamily="18" charset="0"/>
              </a:rPr>
              <a:t>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(</a:t>
            </a:r>
            <a:r>
              <a:rPr lang="en-US" sz="1800" u="sng" dirty="0">
                <a:latin typeface="Bell MT" panose="02020503060305020303" pitchFamily="18" charset="0"/>
              </a:rPr>
              <a:t>Accepted at BU Platform Symposium 2025/CIST 2026</a:t>
            </a:r>
            <a:r>
              <a:rPr lang="en-US" sz="1800" dirty="0">
                <a:latin typeface="Bell MT" panose="02020503060305020303" pitchFamily="18" charset="0"/>
              </a:rPr>
              <a:t>: targeting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(Targeting </a:t>
            </a:r>
            <a:r>
              <a:rPr lang="en-US" sz="1800" i="1" dirty="0">
                <a:latin typeface="Bell MT" panose="02020503060305020303" pitchFamily="18" charset="0"/>
              </a:rPr>
              <a:t>Marketing Science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4E7DE68-51CF-B48F-0754-D4E9670B0701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ell MT" panose="02020503060305020303" pitchFamily="18" charset="0"/>
              </a:rPr>
              <a:t>Research Portfolio</a:t>
            </a:r>
          </a:p>
        </p:txBody>
      </p:sp>
    </p:spTree>
    <p:extLst>
      <p:ext uri="{BB962C8B-B14F-4D97-AF65-F5344CB8AC3E}">
        <p14:creationId xmlns:p14="http://schemas.microsoft.com/office/powerpoint/2010/main" val="349900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2FE74E-3FA4-4074-FB31-F6812B19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C786FE-26FB-212C-2B33-9B8CD90C34C2}"/>
              </a:ext>
            </a:extLst>
          </p:cNvPr>
          <p:cNvSpPr txBox="1">
            <a:spLocks/>
          </p:cNvSpPr>
          <p:nvPr/>
        </p:nvSpPr>
        <p:spPr>
          <a:xfrm>
            <a:off x="623713" y="1122363"/>
            <a:ext cx="10944571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in </a:t>
            </a:r>
            <a:r>
              <a:rPr lang="en-US" altLang="zh-CN" sz="3200" b="1" dirty="0">
                <a:latin typeface="Bell MT" panose="02020503060305020303" pitchFamily="18" charset="0"/>
              </a:rPr>
              <a:t>Direct-to-fan</a:t>
            </a:r>
            <a:r>
              <a:rPr lang="en-US" sz="3200" b="1" dirty="0">
                <a:latin typeface="Bell MT" panose="02020503060305020303" pitchFamily="18" charset="0"/>
              </a:rPr>
              <a:t> Marketplaces: Evidence from </a:t>
            </a:r>
            <a:r>
              <a:rPr lang="en-US" altLang="zh-CN" sz="3200" b="1" dirty="0">
                <a:latin typeface="Bell MT" panose="02020503060305020303" pitchFamily="18" charset="0"/>
              </a:rPr>
              <a:t>an </a:t>
            </a:r>
            <a:r>
              <a:rPr lang="en-US" sz="3200" b="1" dirty="0">
                <a:latin typeface="Bell MT" panose="02020503060305020303" pitchFamily="18" charset="0"/>
              </a:rPr>
              <a:t>Online Music Platform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A82973-91E8-87B0-F3D6-BDD4AA02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76" y="4726162"/>
            <a:ext cx="3892296" cy="1060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6C5702-F4B4-5D56-EFFA-22CD8C808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80" y="4894148"/>
            <a:ext cx="3131353" cy="7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8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Examples</a:t>
            </a:r>
          </a:p>
        </p:txBody>
      </p:sp>
      <p:pic>
        <p:nvPicPr>
          <p:cNvPr id="7" name="Picture 2" descr="“Bandcamp is not built to break you as an artist - that's not our  strength”: Bandcamp explains why it still serves as an integral platform  for self-releasing musicians - and how to get the best from it | MusicRadar">
            <a:extLst>
              <a:ext uri="{FF2B5EF4-FFF2-40B4-BE49-F238E27FC236}">
                <a16:creationId xmlns:a16="http://schemas.microsoft.com/office/drawing/2014/main" id="{E0EA025E-A7D7-0025-4C61-70B8BE7DA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7" r="4836"/>
          <a:stretch/>
        </p:blipFill>
        <p:spPr bwMode="auto">
          <a:xfrm>
            <a:off x="6096000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NFT marketplace OpenSea valued at more than $13bn">
            <a:extLst>
              <a:ext uri="{FF2B5EF4-FFF2-40B4-BE49-F238E27FC236}">
                <a16:creationId xmlns:a16="http://schemas.microsoft.com/office/drawing/2014/main" id="{B23A4092-D80A-B0B9-8B2C-EAFA02348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r="2316"/>
          <a:stretch/>
        </p:blipFill>
        <p:spPr bwMode="auto">
          <a:xfrm>
            <a:off x="2047873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w to Start a Patreon (And Make Real Money From It)">
            <a:extLst>
              <a:ext uri="{FF2B5EF4-FFF2-40B4-BE49-F238E27FC236}">
                <a16:creationId xmlns:a16="http://schemas.microsoft.com/office/drawing/2014/main" id="{8683EA09-0D57-B2CF-E609-402578758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Could a surprise UK territory handover spell the end for Itch.io?">
            <a:extLst>
              <a:ext uri="{FF2B5EF4-FFF2-40B4-BE49-F238E27FC236}">
                <a16:creationId xmlns:a16="http://schemas.microsoft.com/office/drawing/2014/main" id="{D62A6E27-C19E-D552-EF19-8026B4591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4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22ECF8-3945-4D30-58A6-D6902CF34802}"/>
              </a:ext>
            </a:extLst>
          </p:cNvPr>
          <p:cNvSpPr txBox="1"/>
          <p:nvPr/>
        </p:nvSpPr>
        <p:spPr>
          <a:xfrm>
            <a:off x="2024442" y="3229025"/>
            <a:ext cx="2790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1M+ </a:t>
            </a:r>
            <a:r>
              <a:rPr lang="en-US" b="1" dirty="0">
                <a:latin typeface="Bell MT" panose="02020503060305020303" pitchFamily="18" charset="0"/>
              </a:rPr>
              <a:t>projects; </a:t>
            </a: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millions of monthly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8E276-6049-5EA8-F0CB-33710DE79AEE}"/>
              </a:ext>
            </a:extLst>
          </p:cNvPr>
          <p:cNvSpPr txBox="1"/>
          <p:nvPr/>
        </p:nvSpPr>
        <p:spPr>
          <a:xfrm>
            <a:off x="6096000" y="3229025"/>
            <a:ext cx="4815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300K+ </a:t>
            </a:r>
            <a:r>
              <a:rPr lang="en-US" b="1" dirty="0">
                <a:latin typeface="Bell MT" panose="02020503060305020303" pitchFamily="18" charset="0"/>
              </a:rPr>
              <a:t>creators</a:t>
            </a:r>
            <a:r>
              <a:rPr lang="en-US" dirty="0">
                <a:latin typeface="Bell MT" panose="02020503060305020303" pitchFamily="18" charset="0"/>
              </a:rPr>
              <a:t>; </a:t>
            </a:r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10M+</a:t>
            </a:r>
            <a:r>
              <a:rPr lang="en-US" b="1" dirty="0">
                <a:latin typeface="Bell MT" panose="02020503060305020303" pitchFamily="18" charset="0"/>
              </a:rPr>
              <a:t> paying members</a:t>
            </a:r>
            <a:endParaRPr lang="en-US" dirty="0">
              <a:latin typeface="Bell MT" panose="02020503060305020303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$10B+ </a:t>
            </a:r>
            <a:r>
              <a:rPr lang="en-US" b="1" dirty="0">
                <a:latin typeface="Bell MT" panose="02020503060305020303" pitchFamily="18" charset="0"/>
              </a:rPr>
              <a:t>since 2013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BFB61-8932-30FC-9D9C-362D7C5CB2C8}"/>
              </a:ext>
            </a:extLst>
          </p:cNvPr>
          <p:cNvSpPr txBox="1"/>
          <p:nvPr/>
        </p:nvSpPr>
        <p:spPr>
          <a:xfrm>
            <a:off x="1971672" y="6049161"/>
            <a:ext cx="2895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$20B+ </a:t>
            </a:r>
            <a:r>
              <a:rPr lang="en-US" b="1" dirty="0">
                <a:latin typeface="Bell MT" panose="02020503060305020303" pitchFamily="18" charset="0"/>
              </a:rPr>
              <a:t>transaction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1B87C-15E0-0D3F-8E80-75287AF30696}"/>
              </a:ext>
            </a:extLst>
          </p:cNvPr>
          <p:cNvSpPr txBox="1"/>
          <p:nvPr/>
        </p:nvSpPr>
        <p:spPr>
          <a:xfrm>
            <a:off x="6096000" y="6049161"/>
            <a:ext cx="3479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$1.76B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paid to artists; </a:t>
            </a:r>
          </a:p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$223M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spent last year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B0DFA55-A6D2-5E62-CF94-0191D9E88D1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2/36</a:t>
            </a:r>
          </a:p>
        </p:txBody>
      </p:sp>
    </p:spTree>
    <p:extLst>
      <p:ext uri="{BB962C8B-B14F-4D97-AF65-F5344CB8AC3E}">
        <p14:creationId xmlns:p14="http://schemas.microsoft.com/office/powerpoint/2010/main" val="182360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3A83-5417-9993-5DC3-742DA3C5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 is Expanding Quickly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58FF6-63F0-3E68-37B7-DF9AA1F43AAF}"/>
              </a:ext>
            </a:extLst>
          </p:cNvPr>
          <p:cNvSpPr txBox="1"/>
          <p:nvPr/>
        </p:nvSpPr>
        <p:spPr>
          <a:xfrm>
            <a:off x="738130" y="1782667"/>
            <a:ext cx="99999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Stripe: cumulative creator payouts increased from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$10 billion </a:t>
            </a:r>
            <a:r>
              <a:rPr lang="en-US" sz="2800" dirty="0">
                <a:latin typeface="Bell MT" panose="02020503060305020303" pitchFamily="18" charset="0"/>
              </a:rPr>
              <a:t>in 2021 to more than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$25 billion </a:t>
            </a:r>
            <a:r>
              <a:rPr lang="en-US" sz="2800" dirty="0">
                <a:latin typeface="Bell MT" panose="02020503060305020303" pitchFamily="18" charset="0"/>
              </a:rPr>
              <a:t>in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ell MT" panose="02020503060305020303" pitchFamily="18" charset="0"/>
              </a:rPr>
              <a:t>Patreon</a:t>
            </a:r>
            <a:r>
              <a:rPr lang="en-US" sz="2800" dirty="0">
                <a:latin typeface="Bell MT" panose="02020503060305020303" pitchFamily="18" charset="0"/>
              </a:rPr>
              <a:t>: the potential direct-to-fan market is about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$194 billion</a:t>
            </a:r>
            <a:r>
              <a:rPr lang="en-US" sz="2800" dirty="0">
                <a:latin typeface="Bell MT" panose="02020503060305020303" pitchFamily="18" charset="0"/>
              </a:rPr>
              <a:t> in 2025 and could exceed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$231 billion </a:t>
            </a:r>
            <a:r>
              <a:rPr lang="en-US" sz="2800" dirty="0">
                <a:latin typeface="Bell MT" panose="02020503060305020303" pitchFamily="18" charset="0"/>
              </a:rPr>
              <a:t>by 2027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AB8680-2613-A127-B85E-C78F3661B94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1/36</a:t>
            </a:r>
          </a:p>
        </p:txBody>
      </p:sp>
    </p:spTree>
    <p:extLst>
      <p:ext uri="{BB962C8B-B14F-4D97-AF65-F5344CB8AC3E}">
        <p14:creationId xmlns:p14="http://schemas.microsoft.com/office/powerpoint/2010/main" val="186488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b="1" dirty="0">
                <a:latin typeface="Bell MT" panose="02020503060305020303" pitchFamily="18" charset="0"/>
              </a:rPr>
              <a:t>Direct-to-fan</a:t>
            </a:r>
            <a:r>
              <a:rPr lang="en-US" sz="4400" b="1" dirty="0">
                <a:latin typeface="Bell MT" panose="02020503060305020303" pitchFamily="18" charset="0"/>
              </a:rPr>
              <a:t> Marketplace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9965C-5D88-0BC4-35EE-7D1D1FB5F0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88011" y="0"/>
            <a:ext cx="1248156" cy="365125"/>
          </a:xfrm>
        </p:spPr>
        <p:txBody>
          <a:bodyPr/>
          <a:lstStyle/>
          <a:p>
            <a:r>
              <a:rPr lang="en-US" dirty="0"/>
              <a:t> 2/36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99406C-CBA6-BF5F-71B4-54671C76D358}"/>
              </a:ext>
            </a:extLst>
          </p:cNvPr>
          <p:cNvSpPr/>
          <p:nvPr/>
        </p:nvSpPr>
        <p:spPr>
          <a:xfrm>
            <a:off x="1895475" y="2110458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Supply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B0FE37-1B87-2D1F-73C2-C2B668553ED4}"/>
              </a:ext>
            </a:extLst>
          </p:cNvPr>
          <p:cNvSpPr/>
          <p:nvPr/>
        </p:nvSpPr>
        <p:spPr>
          <a:xfrm>
            <a:off x="1895475" y="4641512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Demand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9C13A-2907-F31A-DF73-3BE428A9CB2D}"/>
              </a:ext>
            </a:extLst>
          </p:cNvPr>
          <p:cNvSpPr txBox="1"/>
          <p:nvPr/>
        </p:nvSpPr>
        <p:spPr>
          <a:xfrm>
            <a:off x="3676650" y="1995509"/>
            <a:ext cx="6724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A</a:t>
            </a:r>
            <a:r>
              <a:rPr lang="en-US" sz="2800" dirty="0">
                <a:latin typeface="Bell MT" panose="02020503060305020303" pitchFamily="18" charset="0"/>
              </a:rPr>
              <a:t> </a:t>
            </a:r>
            <a:r>
              <a:rPr lang="en-US" altLang="zh-CN" sz="2800" dirty="0">
                <a:latin typeface="Bell MT" panose="02020503060305020303" pitchFamily="18" charset="0"/>
              </a:rPr>
              <a:t>single category of cultural</a:t>
            </a:r>
            <a:r>
              <a:rPr lang="en-US" sz="2800" dirty="0">
                <a:latin typeface="Bell MT" panose="02020503060305020303" pitchFamily="18" charset="0"/>
              </a:rPr>
              <a:t>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Small individual producers/designers 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3C6DBDB6-3A50-C221-F124-53A028918A81}"/>
              </a:ext>
            </a:extLst>
          </p:cNvPr>
          <p:cNvSpPr/>
          <p:nvPr/>
        </p:nvSpPr>
        <p:spPr>
          <a:xfrm>
            <a:off x="2415312" y="3042534"/>
            <a:ext cx="308112" cy="1373164"/>
          </a:xfrm>
          <a:prstGeom prst="upDownArrow">
            <a:avLst>
              <a:gd name="adj1" fmla="val 5716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EBF16-B83F-1CC9-8C25-D410E3A434CB}"/>
              </a:ext>
            </a:extLst>
          </p:cNvPr>
          <p:cNvSpPr txBox="1"/>
          <p:nvPr/>
        </p:nvSpPr>
        <p:spPr>
          <a:xfrm>
            <a:off x="3676650" y="4809977"/>
            <a:ext cx="727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Consumers from cultural groups/communities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DF8B7-79EB-2A7A-4CA8-B22A99FBBF88}"/>
              </a:ext>
            </a:extLst>
          </p:cNvPr>
          <p:cNvSpPr txBox="1"/>
          <p:nvPr/>
        </p:nvSpPr>
        <p:spPr>
          <a:xfrm>
            <a:off x="3676650" y="3521385"/>
            <a:ext cx="672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Direct-to-fan business model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2FFB0-1C48-86EE-A12B-B964A00BDE5C}"/>
              </a:ext>
            </a:extLst>
          </p:cNvPr>
          <p:cNvSpPr txBox="1"/>
          <p:nvPr/>
        </p:nvSpPr>
        <p:spPr>
          <a:xfrm>
            <a:off x="1143022" y="3552162"/>
            <a:ext cx="1295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155047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79C39-3BD9-5F13-0001-60BA084C1938}"/>
              </a:ext>
            </a:extLst>
          </p:cNvPr>
          <p:cNvSpPr txBox="1"/>
          <p:nvPr/>
        </p:nvSpPr>
        <p:spPr>
          <a:xfrm>
            <a:off x="923925" y="1828562"/>
            <a:ext cx="4892108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53%</a:t>
            </a:r>
          </a:p>
          <a:p>
            <a:r>
              <a:rPr lang="en-US" dirty="0">
                <a:latin typeface="Bell MT" panose="02020503060305020303" pitchFamily="18" charset="0"/>
              </a:rPr>
              <a:t>of creators say it is </a:t>
            </a:r>
            <a:r>
              <a:rPr lang="en-US" b="1" dirty="0">
                <a:latin typeface="Bell MT" panose="02020503060305020303" pitchFamily="18" charset="0"/>
              </a:rPr>
              <a:t>harder to reach </a:t>
            </a:r>
            <a:r>
              <a:rPr lang="en-US" dirty="0">
                <a:latin typeface="Bell MT" panose="02020503060305020303" pitchFamily="18" charset="0"/>
              </a:rPr>
              <a:t>their </a:t>
            </a:r>
          </a:p>
          <a:p>
            <a:r>
              <a:rPr lang="en-US" dirty="0">
                <a:latin typeface="Bell MT" panose="02020503060305020303" pitchFamily="18" charset="0"/>
              </a:rPr>
              <a:t>followers today than five years ago (</a:t>
            </a:r>
            <a:r>
              <a:rPr lang="en-US" dirty="0" err="1">
                <a:latin typeface="Bell MT" panose="02020503060305020303" pitchFamily="18" charset="0"/>
              </a:rPr>
              <a:t>Patreon</a:t>
            </a:r>
            <a:r>
              <a:rPr lang="en-US" dirty="0">
                <a:latin typeface="Bell MT" panose="02020503060305020303" pitchFamily="18" charset="0"/>
              </a:rPr>
              <a:t> 2025)</a:t>
            </a:r>
            <a:endParaRPr lang="en-US" b="1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FA461-34F1-F74F-7461-FD4F5CCFDDB0}"/>
              </a:ext>
            </a:extLst>
          </p:cNvPr>
          <p:cNvSpPr txBox="1"/>
          <p:nvPr/>
        </p:nvSpPr>
        <p:spPr>
          <a:xfrm>
            <a:off x="6678149" y="1828562"/>
            <a:ext cx="536685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</a:t>
            </a:r>
          </a:p>
          <a:p>
            <a:r>
              <a:rPr lang="en-US" dirty="0">
                <a:latin typeface="Bell MT" panose="02020503060305020303" pitchFamily="18" charset="0"/>
              </a:rPr>
              <a:t>of game developers name </a:t>
            </a:r>
            <a:r>
              <a:rPr lang="en-US" b="1" dirty="0">
                <a:latin typeface="Bell MT" panose="02020503060305020303" pitchFamily="18" charset="0"/>
              </a:rPr>
              <a:t>discoverability and </a:t>
            </a:r>
          </a:p>
          <a:p>
            <a:r>
              <a:rPr lang="en-US" b="1" dirty="0">
                <a:latin typeface="Bell MT" panose="02020503060305020303" pitchFamily="18" charset="0"/>
              </a:rPr>
              <a:t>user-acquisition</a:t>
            </a:r>
            <a:r>
              <a:rPr lang="en-US" dirty="0">
                <a:latin typeface="Bell MT" panose="02020503060305020303" pitchFamily="18" charset="0"/>
              </a:rPr>
              <a:t> as their largest obstacle (Unity 2026)</a:t>
            </a:r>
          </a:p>
          <a:p>
            <a:endParaRPr lang="en-US" altLang="zh-CN" dirty="0">
              <a:latin typeface="Bell MT" panose="02020503060305020303" pitchFamily="18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979C819-8697-9D23-20C9-BCB6E603323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3/36</a:t>
            </a:r>
          </a:p>
        </p:txBody>
      </p:sp>
    </p:spTree>
    <p:extLst>
      <p:ext uri="{BB962C8B-B14F-4D97-AF65-F5344CB8AC3E}">
        <p14:creationId xmlns:p14="http://schemas.microsoft.com/office/powerpoint/2010/main" val="242225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Widely Adopted Design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Platforms use purchases to generate a live information feed</a:t>
            </a:r>
          </a:p>
          <a:p>
            <a:pPr lvl="1"/>
            <a:r>
              <a:rPr lang="en-US" altLang="zh-CN" sz="2800" dirty="0"/>
              <a:t>Quickly updating</a:t>
            </a:r>
          </a:p>
          <a:p>
            <a:pPr lvl="1"/>
            <a:r>
              <a:rPr lang="en-US" altLang="zh-CN" sz="2800" dirty="0"/>
              <a:t>Less algorithm-driven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4/36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5CA5E-9A63-E4E9-5286-30A8B14158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" b="62474"/>
          <a:stretch/>
        </p:blipFill>
        <p:spPr>
          <a:xfrm>
            <a:off x="723189" y="3621088"/>
            <a:ext cx="10630611" cy="22510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E0C3C7-CC69-5B12-09B1-CE3B7630BF10}"/>
              </a:ext>
            </a:extLst>
          </p:cNvPr>
          <p:cNvSpPr/>
          <p:nvPr/>
        </p:nvSpPr>
        <p:spPr>
          <a:xfrm>
            <a:off x="9947030" y="4135090"/>
            <a:ext cx="1250143" cy="6115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8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Designs of Discovery Channels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87F6-5F65-C923-38B1-9F7535EE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r="297" b="75969"/>
          <a:stretch/>
        </p:blipFill>
        <p:spPr>
          <a:xfrm>
            <a:off x="396851" y="2231989"/>
            <a:ext cx="11398297" cy="85076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dirty="0"/>
              <a:t>Uniform for everyone – platform-wide visibility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5/36</a:t>
            </a:r>
          </a:p>
        </p:txBody>
      </p:sp>
    </p:spTree>
    <p:extLst>
      <p:ext uri="{BB962C8B-B14F-4D97-AF65-F5344CB8AC3E}">
        <p14:creationId xmlns:p14="http://schemas.microsoft.com/office/powerpoint/2010/main" val="399558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Designs of Discovery Channels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87F6-5F65-C923-38B1-9F7535EE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r="297" b="75969"/>
          <a:stretch/>
        </p:blipFill>
        <p:spPr>
          <a:xfrm>
            <a:off x="396851" y="2231989"/>
            <a:ext cx="11398297" cy="85076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dirty="0"/>
              <a:t>Uniform for everyone – platform-wide visibility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Filtered by user network – network-wide visibility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6/36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E2B06-E0E9-1A45-08AE-424FF6EC4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51" y="4208581"/>
            <a:ext cx="9580952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Questions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FC0EE36-1EC6-4373-31B4-4CF892AC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What is the effect of different </a:t>
            </a:r>
            <a:r>
              <a:rPr lang="en-US" altLang="zh-CN" dirty="0"/>
              <a:t>discovery channels</a:t>
            </a:r>
            <a:r>
              <a:rPr lang="en-US" dirty="0"/>
              <a:t> (i.e., platform-wide vs. network-wide visibility) on market outcomes (e.g., demand, market concentration, and welfare)?</a:t>
            </a:r>
          </a:p>
          <a:p>
            <a:pPr marL="514350" indent="-514350">
              <a:buAutoNum type="arabicPeriod"/>
            </a:pPr>
            <a:endParaRPr lang="en-US" sz="800" dirty="0"/>
          </a:p>
          <a:p>
            <a:pPr marL="514350" indent="-514350">
              <a:buAutoNum type="arabicPeriod"/>
            </a:pPr>
            <a:endParaRPr lang="en-US" sz="1400" dirty="0"/>
          </a:p>
          <a:p>
            <a:pPr marL="514350" indent="-514350">
              <a:buAutoNum type="arabicPeriod"/>
            </a:pPr>
            <a:r>
              <a:rPr lang="en-US" dirty="0"/>
              <a:t>How to better use and design these </a:t>
            </a:r>
            <a:r>
              <a:rPr lang="en-US" altLang="zh-CN" dirty="0"/>
              <a:t>discovery channels?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221D3EA-7D47-6963-D731-F131FB908A0D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7/36</a:t>
            </a:r>
          </a:p>
        </p:txBody>
      </p:sp>
    </p:spTree>
    <p:extLst>
      <p:ext uri="{BB962C8B-B14F-4D97-AF65-F5344CB8AC3E}">
        <p14:creationId xmlns:p14="http://schemas.microsoft.com/office/powerpoint/2010/main" val="135848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2C26-2FDA-58B4-2381-0AFE777A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Related </a:t>
            </a:r>
            <a:r>
              <a:rPr lang="en-US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49C1-03E0-1791-FD71-3589A804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509905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altLang="zh-CN" dirty="0"/>
              <a:t>Platform design and discovery</a:t>
            </a:r>
            <a:br>
              <a:rPr lang="en-US" dirty="0"/>
            </a:b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Dinerstein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et al. 2018;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Ursu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2018; Sun 2025</a:t>
            </a:r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en-US" dirty="0"/>
              <a:t>ocial learning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Cai et al. 2009; Zhang 2010; Bollinger et.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l 2022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Direct-to-fan marketplaces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Dewan et al. 2017; Ameri et al. 2019, 2023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5C4D6C1-5DA4-B85A-3A70-EF68C1944791}"/>
              </a:ext>
            </a:extLst>
          </p:cNvPr>
          <p:cNvSpPr/>
          <p:nvPr/>
        </p:nvSpPr>
        <p:spPr>
          <a:xfrm flipH="1">
            <a:off x="5830382" y="4768681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31D82-ABB4-BFC4-2F7C-49CDC9CF5FAA}"/>
              </a:ext>
            </a:extLst>
          </p:cNvPr>
          <p:cNvSpPr txBox="1"/>
          <p:nvPr/>
        </p:nvSpPr>
        <p:spPr>
          <a:xfrm>
            <a:off x="6163440" y="4725769"/>
            <a:ext cx="4805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 </a:t>
            </a:r>
            <a:r>
              <a:rPr lang="en-US" altLang="zh-CN" dirty="0">
                <a:latin typeface="Bell MT" panose="02020503060305020303" pitchFamily="18" charset="0"/>
              </a:rPr>
              <a:t>Network formation, WOM, observed adoption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</a:t>
            </a:r>
            <a:r>
              <a:rPr lang="en-US" dirty="0">
                <a:latin typeface="Bell MT" panose="02020503060305020303" pitchFamily="18" charset="0"/>
              </a:rPr>
              <a:t>Discovery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B836E45-1265-ED42-8B6B-3195BEDF8343}"/>
              </a:ext>
            </a:extLst>
          </p:cNvPr>
          <p:cNvSpPr/>
          <p:nvPr/>
        </p:nvSpPr>
        <p:spPr>
          <a:xfrm flipH="1">
            <a:off x="6686549" y="3491942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B947F-5269-A233-C37B-8CD2B980950F}"/>
              </a:ext>
            </a:extLst>
          </p:cNvPr>
          <p:cNvSpPr txBox="1"/>
          <p:nvPr/>
        </p:nvSpPr>
        <p:spPr>
          <a:xfrm>
            <a:off x="6980796" y="3421190"/>
            <a:ext cx="4144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</a:t>
            </a:r>
            <a:r>
              <a:rPr lang="en-US" altLang="zh-CN" dirty="0">
                <a:latin typeface="Bell MT" panose="02020503060305020303" pitchFamily="18" charset="0"/>
              </a:rPr>
              <a:t>As product features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As a discovery channel/platform design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3806266-A43F-8FCF-A1A4-14D29F3125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8/36</a:t>
            </a:r>
          </a:p>
        </p:txBody>
      </p:sp>
    </p:spTree>
    <p:extLst>
      <p:ext uri="{BB962C8B-B14F-4D97-AF65-F5344CB8AC3E}">
        <p14:creationId xmlns:p14="http://schemas.microsoft.com/office/powerpoint/2010/main" val="400818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Preview of Findings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Visibility improve individual sales (Reduced-form)</a:t>
            </a:r>
          </a:p>
          <a:p>
            <a:pPr lvl="1"/>
            <a:r>
              <a:rPr lang="en-US" dirty="0"/>
              <a:t>Visibility improve multiple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A3995F2-E0CF-EE97-7BCB-D5B5060DC87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9/36</a:t>
            </a:r>
          </a:p>
        </p:txBody>
      </p:sp>
    </p:spTree>
    <p:extLst>
      <p:ext uri="{BB962C8B-B14F-4D97-AF65-F5344CB8AC3E}">
        <p14:creationId xmlns:p14="http://schemas.microsoft.com/office/powerpoint/2010/main" val="40497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3000375"/>
            <a:ext cx="10172700" cy="8572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Research Context &amp; Data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6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Context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D94E0F-A73F-7F29-9ACC-9CA3EEEB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Bandcamp, an American online digital music platform</a:t>
            </a:r>
          </a:p>
          <a:p>
            <a:endParaRPr lang="en-US" dirty="0"/>
          </a:p>
          <a:p>
            <a:r>
              <a:rPr lang="en-US" dirty="0"/>
              <a:t>Founded in 2007, Bandcamp crossed the </a:t>
            </a:r>
            <a:r>
              <a:rPr lang="en-US" b="1" dirty="0"/>
              <a:t>$1 billion </a:t>
            </a:r>
            <a:r>
              <a:rPr lang="en-US" dirty="0"/>
              <a:t>milestone in late 2022 and exceeded </a:t>
            </a:r>
            <a:r>
              <a:rPr lang="en-US" b="1" dirty="0"/>
              <a:t>$1.5 billion </a:t>
            </a:r>
            <a:r>
              <a:rPr lang="en-US" dirty="0"/>
              <a:t>by mid-2025</a:t>
            </a:r>
          </a:p>
          <a:p>
            <a:r>
              <a:rPr lang="en-US" dirty="0"/>
              <a:t>∼14M users and ∼2.5M individual artists</a:t>
            </a:r>
          </a:p>
          <a:p>
            <a:r>
              <a:rPr lang="en-US" dirty="0"/>
              <a:t>∼4M albums and ~22M tracks (September 2017)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779663C-0CC5-3167-FD6B-7FD41F7350A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10/36</a:t>
            </a:r>
          </a:p>
        </p:txBody>
      </p:sp>
    </p:spTree>
    <p:extLst>
      <p:ext uri="{BB962C8B-B14F-4D97-AF65-F5344CB8AC3E}">
        <p14:creationId xmlns:p14="http://schemas.microsoft.com/office/powerpoint/2010/main" val="217260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Marketplace Overview &amp; </a:t>
            </a:r>
            <a:r>
              <a:rPr lang="en-US" b="1" dirty="0"/>
              <a:t>Discovery Challenge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40476-BF49-F8E4-983D-F8A9182AA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74055"/>
            <a:ext cx="5448300" cy="4102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34BAAE-0C36-14C7-E623-B738D84523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/>
          <a:stretch/>
        </p:blipFill>
        <p:spPr>
          <a:xfrm>
            <a:off x="5905500" y="1874054"/>
            <a:ext cx="5940167" cy="4054081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FEAC7E9-F62B-E41D-85D3-AF80E8EB17C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11/36</a:t>
            </a:r>
          </a:p>
        </p:txBody>
      </p:sp>
    </p:spTree>
    <p:extLst>
      <p:ext uri="{BB962C8B-B14F-4D97-AF65-F5344CB8AC3E}">
        <p14:creationId xmlns:p14="http://schemas.microsoft.com/office/powerpoint/2010/main" val="213138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1: Platform-wide Visibility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898E6-0426-27C6-2FB8-A65A37E1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9" y="2264644"/>
            <a:ext cx="9659948" cy="36050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7F5CAA-0989-AAB6-89D4-AC8BA53708C3}"/>
              </a:ext>
            </a:extLst>
          </p:cNvPr>
          <p:cNvSpPr txBox="1"/>
          <p:nvPr/>
        </p:nvSpPr>
        <p:spPr>
          <a:xfrm>
            <a:off x="730059" y="1623471"/>
            <a:ext cx="7058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Random exposure (∼50% of transactions got exposed)</a:t>
            </a:r>
          </a:p>
        </p:txBody>
      </p:sp>
      <p:sp>
        <p:nvSpPr>
          <p:cNvPr id="6" name="Flowchart: Alternate Process 5">
            <a:hlinkClick r:id="rId3" action="ppaction://hlinksldjump"/>
            <a:extLst>
              <a:ext uri="{FF2B5EF4-FFF2-40B4-BE49-F238E27FC236}">
                <a16:creationId xmlns:a16="http://schemas.microsoft.com/office/drawing/2014/main" id="{A7B153E3-D73D-5C54-A239-A7A3C5BCF51D}"/>
              </a:ext>
            </a:extLst>
          </p:cNvPr>
          <p:cNvSpPr/>
          <p:nvPr/>
        </p:nvSpPr>
        <p:spPr>
          <a:xfrm>
            <a:off x="7759506" y="1765793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1A693D0-441D-5D8C-D9F5-05B08D8CFF3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12/36</a:t>
            </a:r>
          </a:p>
        </p:txBody>
      </p:sp>
    </p:spTree>
    <p:extLst>
      <p:ext uri="{BB962C8B-B14F-4D97-AF65-F5344CB8AC3E}">
        <p14:creationId xmlns:p14="http://schemas.microsoft.com/office/powerpoint/2010/main" val="1519672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20DC-1540-BE6D-C465-065C879C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01326-ABDF-2A4A-E577-C93BC8548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6" y="1681950"/>
            <a:ext cx="8580766" cy="38865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22588-77A1-FDBC-A1B9-CD4BE43D3ED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13/36</a:t>
            </a:r>
          </a:p>
        </p:txBody>
      </p:sp>
    </p:spTree>
    <p:extLst>
      <p:ext uri="{BB962C8B-B14F-4D97-AF65-F5344CB8AC3E}">
        <p14:creationId xmlns:p14="http://schemas.microsoft.com/office/powerpoint/2010/main" val="3738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D4D37-D322-4DA8-2226-A0490C16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How Do </a:t>
            </a:r>
            <a:r>
              <a:rPr lang="en-US" b="1" dirty="0"/>
              <a:t>Purchases Lead to Discoverability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381092-DA6A-67C6-5074-31CFAA25176E}"/>
              </a:ext>
            </a:extLst>
          </p:cNvPr>
          <p:cNvSpPr/>
          <p:nvPr/>
        </p:nvSpPr>
        <p:spPr>
          <a:xfrm>
            <a:off x="885084" y="3003938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A consumer purchases an album from an artist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3C8EAB-DF39-8A03-6B1F-A74EC45CD3B6}"/>
              </a:ext>
            </a:extLst>
          </p:cNvPr>
          <p:cNvSpPr/>
          <p:nvPr/>
        </p:nvSpPr>
        <p:spPr>
          <a:xfrm>
            <a:off x="6830509" y="1962689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platform-wide visibility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8A5EF1-153B-FCA3-241E-A0A283CC0442}"/>
              </a:ext>
            </a:extLst>
          </p:cNvPr>
          <p:cNvSpPr/>
          <p:nvPr/>
        </p:nvSpPr>
        <p:spPr>
          <a:xfrm>
            <a:off x="6830508" y="4163821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network-wide visibility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3B4ED4D-C5D3-2D22-CE70-A7ECD40437EF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64061" y="2328305"/>
            <a:ext cx="3366448" cy="1041249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32CA00D-A567-C5F2-C37F-C979A4976C0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464061" y="3369554"/>
            <a:ext cx="3366447" cy="1159883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9A42D8D-E67A-221D-34BD-25AEDE20C825}"/>
              </a:ext>
            </a:extLst>
          </p:cNvPr>
          <p:cNvSpPr txBox="1"/>
          <p:nvPr/>
        </p:nvSpPr>
        <p:spPr>
          <a:xfrm>
            <a:off x="4070083" y="1639523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Selected into the homepage live feed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E4A35E-D504-6569-D2DB-E43E28FEFFF0}"/>
              </a:ext>
            </a:extLst>
          </p:cNvPr>
          <p:cNvSpPr txBox="1"/>
          <p:nvPr/>
        </p:nvSpPr>
        <p:spPr>
          <a:xfrm>
            <a:off x="4070083" y="4561196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The consumer has followers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B818F58-EF0C-7878-B3EC-B74580219CA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14/36</a:t>
            </a:r>
          </a:p>
        </p:txBody>
      </p:sp>
    </p:spTree>
    <p:extLst>
      <p:ext uri="{BB962C8B-B14F-4D97-AF65-F5344CB8AC3E}">
        <p14:creationId xmlns:p14="http://schemas.microsoft.com/office/powerpoint/2010/main" val="399300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C123B-D5F6-671B-3877-2F0C9F56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8853D-A5DC-D4D2-08B8-8397C446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four-week period dataset from May 3 to May 30, 2026</a:t>
            </a:r>
          </a:p>
          <a:p>
            <a:pPr lvl="1"/>
            <a:endParaRPr lang="en-US" dirty="0"/>
          </a:p>
          <a:p>
            <a:r>
              <a:rPr lang="en-US" dirty="0"/>
              <a:t>Transaction data</a:t>
            </a:r>
          </a:p>
          <a:p>
            <a:pPr lvl="1"/>
            <a:r>
              <a:rPr lang="en-US" dirty="0"/>
              <a:t>14,812 consumers, 14,646 artists, and 193,553 transactions</a:t>
            </a:r>
          </a:p>
          <a:p>
            <a:r>
              <a:rPr lang="en-US" dirty="0"/>
              <a:t>Visibility data</a:t>
            </a:r>
          </a:p>
          <a:p>
            <a:pPr lvl="1"/>
            <a:r>
              <a:rPr lang="en-US" dirty="0"/>
              <a:t>877,730 platform-wide shocks; 785,725 network-wide shocks</a:t>
            </a:r>
          </a:p>
          <a:p>
            <a:r>
              <a:rPr lang="en-US" dirty="0"/>
              <a:t>Profile data: network (fixed), genre (fixed), inventory (dynamic)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E0CAB8-5D9F-A432-4969-AFE9E07ACE8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15/36</a:t>
            </a:r>
          </a:p>
        </p:txBody>
      </p:sp>
    </p:spTree>
    <p:extLst>
      <p:ext uri="{BB962C8B-B14F-4D97-AF65-F5344CB8AC3E}">
        <p14:creationId xmlns:p14="http://schemas.microsoft.com/office/powerpoint/2010/main" val="294633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Reduced-form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 err="1">
                <a:solidFill>
                  <a:srgbClr val="C00000"/>
                </a:solidFill>
                <a:latin typeface="Bell MT" panose="02020503060305020303" pitchFamily="18" charset="0"/>
              </a:rPr>
              <a:t>DiD</a:t>
            </a: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 Design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61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Individual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4"/>
            <a:ext cx="10744200" cy="4733671"/>
          </a:xfrm>
        </p:spPr>
        <p:txBody>
          <a:bodyPr>
            <a:normAutofit/>
          </a:bodyPr>
          <a:lstStyle/>
          <a:p>
            <a:r>
              <a:rPr lang="en-US" dirty="0"/>
              <a:t>We first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</a:p>
          <a:p>
            <a:endParaRPr lang="en-US" b="1" dirty="0"/>
          </a:p>
          <a:p>
            <a:r>
              <a:rPr lang="en-US" altLang="zh-CN" b="1" dirty="0"/>
              <a:t>What is identified? A toy example</a:t>
            </a:r>
          </a:p>
          <a:p>
            <a:pPr lvl="1"/>
            <a:r>
              <a:rPr lang="en-US" dirty="0"/>
              <a:t>Two artist A1 and A2</a:t>
            </a:r>
          </a:p>
          <a:p>
            <a:pPr lvl="1"/>
            <a:r>
              <a:rPr lang="en-US" dirty="0"/>
              <a:t>A1 and A2 have no transactions during {-</a:t>
            </a:r>
            <a:r>
              <a:rPr lang="en-US" i="1" dirty="0"/>
              <a:t>κ</a:t>
            </a:r>
            <a:r>
              <a:rPr lang="en-US" dirty="0"/>
              <a:t>, …, -1}</a:t>
            </a:r>
            <a:br>
              <a:rPr lang="en-US" dirty="0"/>
            </a:br>
            <a:endParaRPr lang="en-US" sz="100" dirty="0"/>
          </a:p>
          <a:p>
            <a:pPr lvl="1"/>
            <a:r>
              <a:rPr lang="en-US" dirty="0"/>
              <a:t>A1 and A2 both have a transaction at t=0. </a:t>
            </a:r>
            <a:br>
              <a:rPr lang="en-US" dirty="0"/>
            </a:br>
            <a:r>
              <a:rPr lang="en-US" dirty="0"/>
              <a:t>A1’s got exposed, while A2’s didn’t.</a:t>
            </a:r>
            <a:br>
              <a:rPr lang="en-US" dirty="0"/>
            </a:br>
            <a:endParaRPr lang="en-US" sz="400" dirty="0"/>
          </a:p>
          <a:p>
            <a:pPr lvl="1"/>
            <a:r>
              <a:rPr lang="en-US" dirty="0"/>
              <a:t>We compute the difference in sales during {1, …, </a:t>
            </a:r>
            <a:r>
              <a:rPr lang="en-US" i="1" dirty="0"/>
              <a:t>κ </a:t>
            </a:r>
            <a:r>
              <a:rPr lang="en-US" dirty="0"/>
              <a:t>-1}</a:t>
            </a:r>
            <a:br>
              <a:rPr lang="en-US" dirty="0"/>
            </a:br>
            <a:endParaRPr lang="en-US" dirty="0"/>
          </a:p>
        </p:txBody>
      </p:sp>
      <p:sp>
        <p:nvSpPr>
          <p:cNvPr id="3" name="Flowchart: Alternate Process 2">
            <a:hlinkClick r:id="rId2" action="ppaction://hlinksldjump"/>
            <a:extLst>
              <a:ext uri="{FF2B5EF4-FFF2-40B4-BE49-F238E27FC236}">
                <a16:creationId xmlns:a16="http://schemas.microsoft.com/office/drawing/2014/main" id="{8E8BABB4-F95C-A26D-1DE1-ED18648F89E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Design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BC73-6641-603B-7436-2356317CB71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16/36</a:t>
            </a:r>
          </a:p>
        </p:txBody>
      </p:sp>
    </p:spTree>
    <p:extLst>
      <p:ext uri="{BB962C8B-B14F-4D97-AF65-F5344CB8AC3E}">
        <p14:creationId xmlns:p14="http://schemas.microsoft.com/office/powerpoint/2010/main" val="416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514981"/>
            <a:ext cx="10172700" cy="1828038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Reduced-form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(RQ1, partially)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78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426567" cy="674688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Discovery Channel</a:t>
            </a:r>
            <a:r>
              <a:rPr lang="en-US" b="1" dirty="0"/>
              <a:t> 1: Platform-wide Visibility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B62225-A7A6-155F-7539-EB43FD734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390083" cy="3787625"/>
          </a:xfr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6000" y="2111374"/>
            <a:ext cx="5390082" cy="3787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get a platform-wide exposure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don’t get exposed</a:t>
            </a:r>
          </a:p>
          <a:p>
            <a:endParaRPr lang="en-US" dirty="0"/>
          </a:p>
          <a:p>
            <a:r>
              <a:rPr lang="en-US" b="1" dirty="0"/>
              <a:t>Effect size: 0.180***</a:t>
            </a:r>
          </a:p>
          <a:p>
            <a:r>
              <a:rPr lang="en-US" b="1" dirty="0"/>
              <a:t>Median sales: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40B9B-F420-7B83-1319-7D55A106EDB8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17/36</a:t>
            </a:r>
          </a:p>
        </p:txBody>
      </p:sp>
      <p:sp>
        <p:nvSpPr>
          <p:cNvPr id="3" name="Flowchart: Alternate Process 2">
            <a:hlinkClick r:id="rId3" action="ppaction://hlinksldjump"/>
            <a:extLst>
              <a:ext uri="{FF2B5EF4-FFF2-40B4-BE49-F238E27FC236}">
                <a16:creationId xmlns:a16="http://schemas.microsoft.com/office/drawing/2014/main" id="{EC9E10F9-3265-D4D2-3DCF-206D7DB863DE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Desc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0235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5999" y="2111374"/>
            <a:ext cx="5618684" cy="3498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</a:t>
            </a:r>
            <a:r>
              <a:rPr lang="en-US" altLang="zh-CN" dirty="0"/>
              <a:t>are made by users with followers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are </a:t>
            </a:r>
            <a:r>
              <a:rPr lang="en-US" altLang="zh-CN" dirty="0"/>
              <a:t>made by users without followers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Effect size: 0.254***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9B795E-E989-74E1-49F4-44034EA9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457623" cy="37196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12942-6E3F-8BF1-A7EB-07FC09D3186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18/36</a:t>
            </a:r>
          </a:p>
        </p:txBody>
      </p:sp>
    </p:spTree>
    <p:extLst>
      <p:ext uri="{BB962C8B-B14F-4D97-AF65-F5344CB8AC3E}">
        <p14:creationId xmlns:p14="http://schemas.microsoft.com/office/powerpoint/2010/main" val="378178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1: Platform-wide Visibility</a:t>
            </a:r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978DDD5-ECB2-73DE-43EB-73DF19216F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36"/>
          <a:stretch/>
        </p:blipFill>
        <p:spPr>
          <a:xfrm>
            <a:off x="609600" y="1968750"/>
            <a:ext cx="548640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8A4475-D7D6-B495-AAB0-FC966787D7D3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252861-D4A0-D456-7094-A09085566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1968750"/>
            <a:ext cx="5951039" cy="1911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F677D9-4C60-6E55-F5EF-7D8A25EE9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4050506"/>
            <a:ext cx="5169589" cy="181536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FA1C39-AA2B-C108-8F04-67835A0A0D45}"/>
              </a:ext>
            </a:extLst>
          </p:cNvPr>
          <p:cNvCxnSpPr/>
          <p:nvPr/>
        </p:nvCxnSpPr>
        <p:spPr>
          <a:xfrm>
            <a:off x="8277225" y="311467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50C056-FC40-CBE7-0522-CEB57D8C81CA}"/>
              </a:ext>
            </a:extLst>
          </p:cNvPr>
          <p:cNvCxnSpPr/>
          <p:nvPr/>
        </p:nvCxnSpPr>
        <p:spPr>
          <a:xfrm>
            <a:off x="8277225" y="519112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5B3E14F-979E-2874-6DAE-175BC1B889D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19/36</a:t>
            </a:r>
          </a:p>
        </p:txBody>
      </p:sp>
    </p:spTree>
    <p:extLst>
      <p:ext uri="{BB962C8B-B14F-4D97-AF65-F5344CB8AC3E}">
        <p14:creationId xmlns:p14="http://schemas.microsoft.com/office/powerpoint/2010/main" val="1851779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2: Network-wide Visibility</a:t>
            </a:r>
            <a:endParaRPr lang="en-US" dirty="0"/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BE6F59C-F4D9-6147-CC37-376FA3B419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3"/>
          <a:stretch/>
        </p:blipFill>
        <p:spPr>
          <a:xfrm>
            <a:off x="5962650" y="1968750"/>
            <a:ext cx="539115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B0F9F1-8A44-FFCE-4C16-C25BBF793E27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76DCB8-9542-0152-22E1-0B0A176605F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20/36</a:t>
            </a:r>
          </a:p>
        </p:txBody>
      </p:sp>
    </p:spTree>
    <p:extLst>
      <p:ext uri="{BB962C8B-B14F-4D97-AF65-F5344CB8AC3E}">
        <p14:creationId xmlns:p14="http://schemas.microsoft.com/office/powerpoint/2010/main" val="27114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Concerns on Market Composition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6DE63-EA48-0D26-571D-53481BC7F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68750"/>
            <a:ext cx="10744200" cy="3550737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B8E899-E291-082C-CDF8-F3E3018C944F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0744200" cy="5012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3B8385D-14E7-4027-90A0-E30F2AE809DE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E29C663-C983-54B2-1621-70446EF6951F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63F04CC-5C3E-BC88-FF7C-1E283338599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21/36</a:t>
            </a:r>
          </a:p>
        </p:txBody>
      </p:sp>
    </p:spTree>
    <p:extLst>
      <p:ext uri="{BB962C8B-B14F-4D97-AF65-F5344CB8AC3E}">
        <p14:creationId xmlns:p14="http://schemas.microsoft.com/office/powerpoint/2010/main" val="881846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1EEF-94FD-CF5E-4DE7-F4B2BF16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Discussions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58D3-D413-7A72-5C97-BC05EA7F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RQ1: Making purchases visible has positive effects on </a:t>
            </a:r>
            <a:r>
              <a:rPr lang="en-US" b="1" dirty="0"/>
              <a:t>individual</a:t>
            </a:r>
            <a:r>
              <a:rPr lang="en-US" dirty="0"/>
              <a:t> sales</a:t>
            </a:r>
            <a:br>
              <a:rPr lang="en-US" dirty="0"/>
            </a:br>
            <a:r>
              <a:rPr lang="en-US" dirty="0"/>
              <a:t>⇒ Is it a zero-sum game?</a:t>
            </a:r>
          </a:p>
          <a:p>
            <a:endParaRPr lang="en-US" dirty="0"/>
          </a:p>
          <a:p>
            <a:r>
              <a:rPr lang="en-US" dirty="0"/>
              <a:t>RQ1: These designs might change the market composition</a:t>
            </a:r>
            <a:br>
              <a:rPr lang="en-US" dirty="0"/>
            </a:br>
            <a:r>
              <a:rPr lang="en-US" dirty="0"/>
              <a:t>⇒ Do they h</a:t>
            </a:r>
            <a:r>
              <a:rPr lang="en-US" altLang="zh-CN" dirty="0"/>
              <a:t>arm</a:t>
            </a:r>
            <a:r>
              <a:rPr lang="en-US" dirty="0"/>
              <a:t> genre diversity? Consumer welfare?</a:t>
            </a:r>
          </a:p>
          <a:p>
            <a:endParaRPr lang="en-US" dirty="0"/>
          </a:p>
          <a:p>
            <a:r>
              <a:rPr lang="en-US" dirty="0"/>
              <a:t>RQ2: Insights about platform design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915448-F59E-8CB9-489C-84F65535620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22/36</a:t>
            </a:r>
          </a:p>
        </p:txBody>
      </p:sp>
    </p:spTree>
    <p:extLst>
      <p:ext uri="{BB962C8B-B14F-4D97-AF65-F5344CB8AC3E}">
        <p14:creationId xmlns:p14="http://schemas.microsoft.com/office/powerpoint/2010/main" val="12079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Setup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754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8EEAE2-0AFD-7170-C8B9-DDEB0FBA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Modeling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2EA7F-CAC7-65E5-9993-7A602C41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239500" cy="4851400"/>
          </a:xfrm>
        </p:spPr>
        <p:txBody>
          <a:bodyPr>
            <a:normAutofit/>
          </a:bodyPr>
          <a:lstStyle/>
          <a:p>
            <a:r>
              <a:rPr lang="en-US" dirty="0"/>
              <a:t>High frequency variations (∼0.8 transaction/sec)</a:t>
            </a:r>
          </a:p>
          <a:p>
            <a:pPr marL="0" indent="0">
              <a:buNone/>
            </a:pPr>
            <a:r>
              <a:rPr lang="en-US" dirty="0"/>
              <a:t>⇒ continuous-time setting</a:t>
            </a:r>
          </a:p>
          <a:p>
            <a:endParaRPr lang="en-US" sz="300" dirty="0"/>
          </a:p>
          <a:p>
            <a:endParaRPr lang="en-US" dirty="0"/>
          </a:p>
          <a:p>
            <a:r>
              <a:rPr lang="en-US" dirty="0"/>
              <a:t>Large choice set (∼15K artists)</a:t>
            </a:r>
          </a:p>
          <a:p>
            <a:pPr marL="0" indent="0">
              <a:buNone/>
            </a:pPr>
            <a:r>
              <a:rPr lang="en-US" dirty="0"/>
              <a:t>⇒ encounter then purchase</a:t>
            </a:r>
          </a:p>
          <a:p>
            <a:pPr marL="0" indent="0">
              <a:buNone/>
            </a:pPr>
            <a:br>
              <a:rPr lang="en-US" dirty="0"/>
            </a:br>
            <a:endParaRPr lang="en-US" sz="300" dirty="0"/>
          </a:p>
          <a:p>
            <a:r>
              <a:rPr lang="en-US" dirty="0"/>
              <a:t>Unobservable user session</a:t>
            </a:r>
          </a:p>
          <a:p>
            <a:pPr marL="0" indent="0">
              <a:buNone/>
            </a:pPr>
            <a:r>
              <a:rPr lang="en-US" dirty="0"/>
              <a:t>⇒ nonhomogeneous Poisson arrival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60B627-E77E-29D9-3E28-1DFF6979A9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23/36</a:t>
            </a:r>
          </a:p>
        </p:txBody>
      </p:sp>
    </p:spTree>
    <p:extLst>
      <p:ext uri="{BB962C8B-B14F-4D97-AF65-F5344CB8AC3E}">
        <p14:creationId xmlns:p14="http://schemas.microsoft.com/office/powerpoint/2010/main" val="246337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D72FDCA-C2DB-3058-7713-5EBA7391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09876"/>
            <a:ext cx="10744200" cy="4048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⇒ Thinning Theorem: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point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process</a:t>
            </a:r>
            <a:endParaRPr lang="en-US" sz="24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Poisson arrival as readiness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arrival, encountering an artist is a discrete choice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encounter, consumers decide whether to purchase from the artist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C815D-F0A5-44D1-7B5D-954CEFEF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Consumer Decision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3C10E-3B17-FCF8-4163-D33A250E14A1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Ready to explore new music?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Time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Inventory effect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476DD2-6055-4EB8-94FE-66FD7F3ACFE3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Which artist to explore?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Visibility (Discoverability)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Genre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0426B2-58A4-7722-E0F9-5206D1134DC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37236-C01C-81C9-A643-DC78695E0112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Purchase?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Diversity-seeking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ell MT" panose="02020503060305020303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340F18-D79B-4F0C-14B7-E320C1E1989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/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blipFill>
                <a:blip r:embed="rId2"/>
                <a:stretch>
                  <a:fillRect l="-3037" t="-4444" r="-1085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/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blipFill>
                <a:blip r:embed="rId3"/>
                <a:stretch>
                  <a:fillRect l="-1606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/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blipFill>
                <a:blip r:embed="rId4"/>
                <a:stretch>
                  <a:fillRect l="-1481" t="-1730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/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blipFill>
                <a:blip r:embed="rId5"/>
                <a:stretch>
                  <a:fillRect l="-2038" t="-24691" b="-10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29FA792-5299-BF23-F7F6-CA8CC7CAC9A0}"/>
              </a:ext>
            </a:extLst>
          </p:cNvPr>
          <p:cNvSpPr txBox="1"/>
          <p:nvPr/>
        </p:nvSpPr>
        <p:spPr>
          <a:xfrm>
            <a:off x="2319337" y="3934649"/>
            <a:ext cx="1710340" cy="2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baseline    inventory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B23C64-EDCA-8F01-964B-39CEF66BEF58}"/>
              </a:ext>
            </a:extLst>
          </p:cNvPr>
          <p:cNvSpPr txBox="1"/>
          <p:nvPr/>
        </p:nvSpPr>
        <p:spPr>
          <a:xfrm>
            <a:off x="1962150" y="4904053"/>
            <a:ext cx="4524579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platform-wide   network-wide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3854-628F-54D7-768B-297F4E5BEDB0}"/>
              </a:ext>
            </a:extLst>
          </p:cNvPr>
          <p:cNvSpPr txBox="1"/>
          <p:nvPr/>
        </p:nvSpPr>
        <p:spPr>
          <a:xfrm>
            <a:off x="2291013" y="5877773"/>
            <a:ext cx="2100014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genre share             price</a:t>
            </a:r>
          </a:p>
        </p:txBody>
      </p:sp>
      <p:sp>
        <p:nvSpPr>
          <p:cNvPr id="7" name="Flowchart: Alternate Process 6">
            <a:hlinkClick r:id="rId6" action="ppaction://hlinksldjump"/>
            <a:extLst>
              <a:ext uri="{FF2B5EF4-FFF2-40B4-BE49-F238E27FC236}">
                <a16:creationId xmlns:a16="http://schemas.microsoft.com/office/drawing/2014/main" id="{88E60519-FBEF-42B5-B44C-28AA8EDCD76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Model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E83D7B5-22AC-2E71-5408-A85A328DD54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24/36</a:t>
            </a:r>
          </a:p>
        </p:txBody>
      </p:sp>
    </p:spTree>
    <p:extLst>
      <p:ext uri="{BB962C8B-B14F-4D97-AF65-F5344CB8AC3E}">
        <p14:creationId xmlns:p14="http://schemas.microsoft.com/office/powerpoint/2010/main" val="28681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8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8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2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5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13" grpId="0" animBg="1"/>
      <p:bldP spid="13" grpId="1" animBg="1"/>
      <p:bldP spid="13" grpId="2" animBg="1"/>
      <p:bldP spid="13" grpId="3" animBg="1"/>
      <p:bldP spid="13" grpId="4" animBg="1"/>
      <p:bldP spid="15" grpId="0" animBg="1"/>
      <p:bldP spid="15" grpId="1" animBg="1"/>
      <p:bldP spid="15" grpId="2" animBg="1"/>
      <p:bldP spid="15" grpId="3" animBg="1"/>
      <p:bldP spid="19" grpId="1"/>
      <p:bldP spid="20" grpId="1"/>
      <p:bldP spid="21" grpId="1"/>
      <p:bldP spid="23" grpId="0"/>
      <p:bldP spid="24" grpId="1"/>
      <p:bldP spid="25" grpId="1"/>
      <p:bldP spid="2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4B78E-EFE1-0180-39F9-8698A942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Capture the Evolving Visibility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each visibility shock as evolving continuously over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Visibility at any point in time is the cumulation of all prior shocks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90475D4-D43B-C15E-6758-3A152973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8" y="2974069"/>
            <a:ext cx="4192047" cy="34460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B348B8-9F42-B30A-05F8-E7CDEF61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102" y="2891042"/>
            <a:ext cx="4192047" cy="3612061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EFB9082-194D-4C2E-6547-6998AC821CF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25/36</a:t>
            </a:r>
          </a:p>
        </p:txBody>
      </p:sp>
    </p:spTree>
    <p:extLst>
      <p:ext uri="{BB962C8B-B14F-4D97-AF65-F5344CB8AC3E}">
        <p14:creationId xmlns:p14="http://schemas.microsoft.com/office/powerpoint/2010/main" val="249178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7F3ABF-BAA2-134A-2704-606B2D15BF93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1001375" cy="189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Extremum estimators (e.g., MLE) are computationally unaffordable</a:t>
            </a:r>
          </a:p>
          <a:p>
            <a:endParaRPr lang="en-US" dirty="0"/>
          </a:p>
          <a:p>
            <a:r>
              <a:rPr lang="en-US" dirty="0"/>
              <a:t>Neural Network Estimation (Wei and Jiang 2025)</a:t>
            </a:r>
          </a:p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EF0FEB-E99F-CFFD-FEDD-D56DF5A6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Estimation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57BFA-1B7A-21E3-6C04-3D24654B8774}"/>
              </a:ext>
            </a:extLst>
          </p:cNvPr>
          <p:cNvSpPr txBox="1"/>
          <p:nvPr/>
        </p:nvSpPr>
        <p:spPr>
          <a:xfrm>
            <a:off x="1009650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4E7152-5B00-3318-4DB1-C2C0DBB35392}"/>
              </a:ext>
            </a:extLst>
          </p:cNvPr>
          <p:cNvSpPr txBox="1"/>
          <p:nvPr/>
        </p:nvSpPr>
        <p:spPr>
          <a:xfrm>
            <a:off x="1009650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CE9FE-4B63-6D64-E1BC-EA4E6921ABFF}"/>
              </a:ext>
            </a:extLst>
          </p:cNvPr>
          <p:cNvSpPr txBox="1"/>
          <p:nvPr/>
        </p:nvSpPr>
        <p:spPr>
          <a:xfrm>
            <a:off x="1009650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C3F5A0-44E7-E573-F322-34571C180CED}"/>
              </a:ext>
            </a:extLst>
          </p:cNvPr>
          <p:cNvSpPr/>
          <p:nvPr/>
        </p:nvSpPr>
        <p:spPr>
          <a:xfrm>
            <a:off x="2565430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Structural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B4595-300A-7336-FA26-6C9E09116C06}"/>
              </a:ext>
            </a:extLst>
          </p:cNvPr>
          <p:cNvSpPr txBox="1"/>
          <p:nvPr/>
        </p:nvSpPr>
        <p:spPr>
          <a:xfrm>
            <a:off x="4841344" y="3397012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1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6EBB9-0015-C5D4-3F31-98F0D2511379}"/>
              </a:ext>
            </a:extLst>
          </p:cNvPr>
          <p:cNvSpPr txBox="1"/>
          <p:nvPr/>
        </p:nvSpPr>
        <p:spPr>
          <a:xfrm>
            <a:off x="4841344" y="3931444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2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795BF-BA39-8E49-CE75-BB5C5C95A926}"/>
              </a:ext>
            </a:extLst>
          </p:cNvPr>
          <p:cNvSpPr txBox="1"/>
          <p:nvPr/>
        </p:nvSpPr>
        <p:spPr>
          <a:xfrm>
            <a:off x="4841344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7C98779-99B4-11F9-5572-DDACCBBE9D58}"/>
              </a:ext>
            </a:extLst>
          </p:cNvPr>
          <p:cNvSpPr/>
          <p:nvPr/>
        </p:nvSpPr>
        <p:spPr>
          <a:xfrm>
            <a:off x="6995982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Bell MT" panose="02020503060305020303" pitchFamily="18" charset="0"/>
              </a:rPr>
              <a:t>NN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2759C-5D74-F875-84F7-B6847C05C696}"/>
              </a:ext>
            </a:extLst>
          </p:cNvPr>
          <p:cNvSpPr txBox="1"/>
          <p:nvPr/>
        </p:nvSpPr>
        <p:spPr>
          <a:xfrm>
            <a:off x="9301598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76351-CD59-E17F-7537-B33827782471}"/>
              </a:ext>
            </a:extLst>
          </p:cNvPr>
          <p:cNvSpPr txBox="1"/>
          <p:nvPr/>
        </p:nvSpPr>
        <p:spPr>
          <a:xfrm>
            <a:off x="9301598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448DB-3BCE-36C1-B9BB-A4A7E12BC29B}"/>
              </a:ext>
            </a:extLst>
          </p:cNvPr>
          <p:cNvSpPr txBox="1"/>
          <p:nvPr/>
        </p:nvSpPr>
        <p:spPr>
          <a:xfrm>
            <a:off x="9301598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6814AA6-CDEB-1E35-588B-C2663C42358B}"/>
              </a:ext>
            </a:extLst>
          </p:cNvPr>
          <p:cNvSpPr/>
          <p:nvPr/>
        </p:nvSpPr>
        <p:spPr>
          <a:xfrm>
            <a:off x="4293474" y="5455248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Trained NN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17FA1C-0077-9B96-11A3-B8022AF1A5FC}"/>
              </a:ext>
            </a:extLst>
          </p:cNvPr>
          <p:cNvSpPr txBox="1"/>
          <p:nvPr/>
        </p:nvSpPr>
        <p:spPr>
          <a:xfrm>
            <a:off x="896115" y="5617847"/>
            <a:ext cx="3284489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Bell MT" panose="02020503060305020303" pitchFamily="18" charset="0"/>
              </a:rPr>
              <a:t>Real outcome (Observed Data)</a:t>
            </a:r>
            <a:endParaRPr lang="en-US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5919EA-218E-5A04-EAD0-B2BE41175B84}"/>
              </a:ext>
            </a:extLst>
          </p:cNvPr>
          <p:cNvSpPr txBox="1"/>
          <p:nvPr/>
        </p:nvSpPr>
        <p:spPr>
          <a:xfrm>
            <a:off x="6481364" y="5617847"/>
            <a:ext cx="2476768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Parameters of interest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067DF2-62B5-2079-D214-4E6918B28E39}"/>
              </a:ext>
            </a:extLst>
          </p:cNvPr>
          <p:cNvSpPr txBox="1"/>
          <p:nvPr/>
        </p:nvSpPr>
        <p:spPr>
          <a:xfrm>
            <a:off x="3005637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A992CE-216E-C26D-B215-2A1103CB4469}"/>
              </a:ext>
            </a:extLst>
          </p:cNvPr>
          <p:cNvSpPr txBox="1"/>
          <p:nvPr/>
        </p:nvSpPr>
        <p:spPr>
          <a:xfrm>
            <a:off x="7420856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63387C-CFC7-DB5C-2FA0-D796B0674CAC}"/>
              </a:ext>
            </a:extLst>
          </p:cNvPr>
          <p:cNvSpPr txBox="1"/>
          <p:nvPr/>
        </p:nvSpPr>
        <p:spPr>
          <a:xfrm>
            <a:off x="4757754" y="5292765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172D7-84BD-F302-10E2-2EFA7E917A34}"/>
              </a:ext>
            </a:extLst>
          </p:cNvPr>
          <p:cNvSpPr txBox="1"/>
          <p:nvPr/>
        </p:nvSpPr>
        <p:spPr>
          <a:xfrm>
            <a:off x="1009650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EF2CD7-953A-1617-EA48-BAE10555DE59}"/>
              </a:ext>
            </a:extLst>
          </p:cNvPr>
          <p:cNvSpPr txBox="1"/>
          <p:nvPr/>
        </p:nvSpPr>
        <p:spPr>
          <a:xfrm>
            <a:off x="4841344" y="4636146"/>
            <a:ext cx="160107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56A35A-9B07-CC57-B46D-1AF5FE3692F0}"/>
              </a:ext>
            </a:extLst>
          </p:cNvPr>
          <p:cNvSpPr txBox="1"/>
          <p:nvPr/>
        </p:nvSpPr>
        <p:spPr>
          <a:xfrm>
            <a:off x="9301598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6" name="Flowchart: Alternate Process 55">
            <a:hlinkClick r:id="rId2" action="ppaction://hlinksldjump"/>
            <a:extLst>
              <a:ext uri="{FF2B5EF4-FFF2-40B4-BE49-F238E27FC236}">
                <a16:creationId xmlns:a16="http://schemas.microsoft.com/office/drawing/2014/main" id="{3E55FE2D-80A6-9638-FB6D-A7A2AF1C6BE9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Detail</a:t>
            </a:r>
            <a:endParaRPr lang="en-US" sz="1200" dirty="0"/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72340EF8-8D53-86D5-E535-746359D2F617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26/36</a:t>
            </a:r>
          </a:p>
        </p:txBody>
      </p:sp>
    </p:spTree>
    <p:extLst>
      <p:ext uri="{BB962C8B-B14F-4D97-AF65-F5344CB8AC3E}">
        <p14:creationId xmlns:p14="http://schemas.microsoft.com/office/powerpoint/2010/main" val="157983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9" grpId="0"/>
      <p:bldP spid="24" grpId="0" animBg="1"/>
      <p:bldP spid="33" grpId="0" animBg="1"/>
      <p:bldP spid="34" grpId="0" animBg="1"/>
      <p:bldP spid="36" grpId="0"/>
      <p:bldP spid="45" grpId="0" animBg="1"/>
      <p:bldP spid="46" grpId="0" animBg="1"/>
      <p:bldP spid="48" grpId="0" animBg="1"/>
      <p:bldP spid="50" grpId="0"/>
      <p:bldP spid="51" grpId="0"/>
      <p:bldP spid="52" grpId="0"/>
      <p:bldP spid="53" grpId="0" animBg="1"/>
      <p:bldP spid="54" grpId="0" animBg="1"/>
      <p:bldP spid="5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Validation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26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CC8E8D-9180-59C2-8DA2-2B4351FF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Fit (predicted vs. observed genre demand)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763DF9-F1CA-2EB4-21EC-BD6D4C75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21" y="1531805"/>
            <a:ext cx="9236931" cy="4637063"/>
          </a:xfrm>
          <a:prstGeom prst="rect">
            <a:avLst/>
          </a:prstGeom>
        </p:spPr>
      </p:pic>
      <p:sp>
        <p:nvSpPr>
          <p:cNvPr id="7" name="Flowchart: Alternate Process 6">
            <a:hlinkClick r:id="rId3" action="ppaction://hlinksldjump"/>
            <a:extLst>
              <a:ext uri="{FF2B5EF4-FFF2-40B4-BE49-F238E27FC236}">
                <a16:creationId xmlns:a16="http://schemas.microsoft.com/office/drawing/2014/main" id="{0F3E911C-EEE5-0CB1-385D-CF6941BC1CFD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DB5FD60-4C7C-2178-4729-A36B8C78682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27/36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95AF2-0B46-4F84-6AE8-306408FE5B0D}"/>
              </a:ext>
            </a:extLst>
          </p:cNvPr>
          <p:cNvSpPr txBox="1"/>
          <p:nvPr/>
        </p:nvSpPr>
        <p:spPr>
          <a:xfrm>
            <a:off x="3823063" y="2619201"/>
            <a:ext cx="7280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Electronic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EADA0-3144-87A9-61DE-857AB63D82E0}"/>
              </a:ext>
            </a:extLst>
          </p:cNvPr>
          <p:cNvSpPr txBox="1"/>
          <p:nvPr/>
        </p:nvSpPr>
        <p:spPr>
          <a:xfrm>
            <a:off x="3575238" y="2804240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Bell MT" panose="02020503060305020303" pitchFamily="18" charset="0"/>
              </a:rPr>
              <a:t>Other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C1671-5A62-E219-6564-0F2EB1405A02}"/>
              </a:ext>
            </a:extLst>
          </p:cNvPr>
          <p:cNvSpPr txBox="1"/>
          <p:nvPr/>
        </p:nvSpPr>
        <p:spPr>
          <a:xfrm>
            <a:off x="4406537" y="3252261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Alternative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409EF-6CFF-7FE1-64F9-E92A887F8167}"/>
              </a:ext>
            </a:extLst>
          </p:cNvPr>
          <p:cNvSpPr txBox="1"/>
          <p:nvPr/>
        </p:nvSpPr>
        <p:spPr>
          <a:xfrm>
            <a:off x="4357661" y="3554601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Metal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9DA42-EBAA-D847-12F4-2EE81800F8D3}"/>
              </a:ext>
            </a:extLst>
          </p:cNvPr>
          <p:cNvSpPr txBox="1"/>
          <p:nvPr/>
        </p:nvSpPr>
        <p:spPr>
          <a:xfrm>
            <a:off x="3349856" y="3103430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Rock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22B60-090A-26FA-6D0A-210254364BD6}"/>
              </a:ext>
            </a:extLst>
          </p:cNvPr>
          <p:cNvSpPr txBox="1"/>
          <p:nvPr/>
        </p:nvSpPr>
        <p:spPr>
          <a:xfrm>
            <a:off x="2734438" y="3349651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Experimental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EBDC7-22C2-6CAF-5996-F92071D8C3E2}"/>
              </a:ext>
            </a:extLst>
          </p:cNvPr>
          <p:cNvSpPr txBox="1"/>
          <p:nvPr/>
        </p:nvSpPr>
        <p:spPr>
          <a:xfrm>
            <a:off x="4175544" y="3885321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Punk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42953-1EFF-C98C-0213-D30596A50506}"/>
              </a:ext>
            </a:extLst>
          </p:cNvPr>
          <p:cNvSpPr txBox="1"/>
          <p:nvPr/>
        </p:nvSpPr>
        <p:spPr>
          <a:xfrm>
            <a:off x="3800620" y="4184511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Hip-hop/Rap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A7A1C-6E1E-57F9-EB6A-F4D5F3E02A14}"/>
              </a:ext>
            </a:extLst>
          </p:cNvPr>
          <p:cNvSpPr txBox="1"/>
          <p:nvPr/>
        </p:nvSpPr>
        <p:spPr>
          <a:xfrm>
            <a:off x="3430968" y="4422519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Ambient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9CF68-E487-E0AF-FCA6-1780626DD6C4}"/>
              </a:ext>
            </a:extLst>
          </p:cNvPr>
          <p:cNvSpPr txBox="1"/>
          <p:nvPr/>
        </p:nvSpPr>
        <p:spPr>
          <a:xfrm>
            <a:off x="2774639" y="3727225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5574B-FA36-3C94-907E-BE63C8FADB30}"/>
              </a:ext>
            </a:extLst>
          </p:cNvPr>
          <p:cNvSpPr txBox="1"/>
          <p:nvPr/>
        </p:nvSpPr>
        <p:spPr>
          <a:xfrm>
            <a:off x="2834809" y="400369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Jazz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E20CAA-C5D7-2035-4127-23F83C11EBDD}"/>
              </a:ext>
            </a:extLst>
          </p:cNvPr>
          <p:cNvCxnSpPr>
            <a:cxnSpLocks/>
          </p:cNvCxnSpPr>
          <p:nvPr/>
        </p:nvCxnSpPr>
        <p:spPr>
          <a:xfrm>
            <a:off x="4308854" y="2804240"/>
            <a:ext cx="120271" cy="1739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61D23B-B05A-68A3-3874-3EAEAA7C76C2}"/>
              </a:ext>
            </a:extLst>
          </p:cNvPr>
          <p:cNvCxnSpPr/>
          <p:nvPr/>
        </p:nvCxnSpPr>
        <p:spPr>
          <a:xfrm>
            <a:off x="3968750" y="3014253"/>
            <a:ext cx="152400" cy="185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BFA2F4-6E15-9554-24D7-D55077F92D5D}"/>
              </a:ext>
            </a:extLst>
          </p:cNvPr>
          <p:cNvCxnSpPr>
            <a:stCxn id="9" idx="1"/>
          </p:cNvCxnSpPr>
          <p:nvPr/>
        </p:nvCxnSpPr>
        <p:spPr>
          <a:xfrm flipH="1">
            <a:off x="4149725" y="3375372"/>
            <a:ext cx="256812" cy="2822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20B8F1-4F2A-EDE5-F5FD-59BD82B21F51}"/>
              </a:ext>
            </a:extLst>
          </p:cNvPr>
          <p:cNvCxnSpPr>
            <a:cxnSpLocks/>
          </p:cNvCxnSpPr>
          <p:nvPr/>
        </p:nvCxnSpPr>
        <p:spPr>
          <a:xfrm flipH="1" flipV="1">
            <a:off x="4121150" y="3531445"/>
            <a:ext cx="247839" cy="989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0AD1DA-4A5C-9CD9-8057-0EE9B21242CE}"/>
              </a:ext>
            </a:extLst>
          </p:cNvPr>
          <p:cNvCxnSpPr>
            <a:cxnSpLocks/>
          </p:cNvCxnSpPr>
          <p:nvPr/>
        </p:nvCxnSpPr>
        <p:spPr>
          <a:xfrm>
            <a:off x="3714556" y="3312744"/>
            <a:ext cx="228794" cy="15320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324272-3D42-959C-F3F9-4508BAA9A59F}"/>
              </a:ext>
            </a:extLst>
          </p:cNvPr>
          <p:cNvCxnSpPr>
            <a:cxnSpLocks/>
          </p:cNvCxnSpPr>
          <p:nvPr/>
        </p:nvCxnSpPr>
        <p:spPr>
          <a:xfrm>
            <a:off x="3586599" y="3498482"/>
            <a:ext cx="329817" cy="653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5DCE8C-3202-2D9B-3981-772D2DBFC001}"/>
              </a:ext>
            </a:extLst>
          </p:cNvPr>
          <p:cNvCxnSpPr>
            <a:cxnSpLocks/>
          </p:cNvCxnSpPr>
          <p:nvPr/>
        </p:nvCxnSpPr>
        <p:spPr>
          <a:xfrm flipH="1" flipV="1">
            <a:off x="4005354" y="3639271"/>
            <a:ext cx="239715" cy="27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4DC9FC-6636-9B69-3A97-3AC01EACC297}"/>
              </a:ext>
            </a:extLst>
          </p:cNvPr>
          <p:cNvCxnSpPr/>
          <p:nvPr/>
        </p:nvCxnSpPr>
        <p:spPr>
          <a:xfrm flipH="1" flipV="1">
            <a:off x="3902083" y="3800822"/>
            <a:ext cx="26934" cy="3634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23CC7E-C6CB-AFEE-58D3-94C3CBF6A5D6}"/>
              </a:ext>
            </a:extLst>
          </p:cNvPr>
          <p:cNvCxnSpPr/>
          <p:nvPr/>
        </p:nvCxnSpPr>
        <p:spPr>
          <a:xfrm flipV="1">
            <a:off x="3612893" y="3778563"/>
            <a:ext cx="165357" cy="6521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73470B-4366-EA78-1320-D1C7A65A7D2C}"/>
              </a:ext>
            </a:extLst>
          </p:cNvPr>
          <p:cNvCxnSpPr>
            <a:stCxn id="16" idx="3"/>
          </p:cNvCxnSpPr>
          <p:nvPr/>
        </p:nvCxnSpPr>
        <p:spPr>
          <a:xfrm flipV="1">
            <a:off x="3164489" y="3771952"/>
            <a:ext cx="368627" cy="7838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CB8653E-579A-D871-485E-8295F2D9D686}"/>
              </a:ext>
            </a:extLst>
          </p:cNvPr>
          <p:cNvCxnSpPr>
            <a:cxnSpLocks/>
          </p:cNvCxnSpPr>
          <p:nvPr/>
        </p:nvCxnSpPr>
        <p:spPr>
          <a:xfrm flipV="1">
            <a:off x="3186645" y="3850335"/>
            <a:ext cx="349911" cy="2380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E01FEF6-E247-EA00-4300-37E79E78E8C6}"/>
              </a:ext>
            </a:extLst>
          </p:cNvPr>
          <p:cNvSpPr txBox="1"/>
          <p:nvPr/>
        </p:nvSpPr>
        <p:spPr>
          <a:xfrm>
            <a:off x="8010915" y="2832887"/>
            <a:ext cx="7280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Electronic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D80712-6834-1CE5-3BB6-16C3E5D1DC45}"/>
              </a:ext>
            </a:extLst>
          </p:cNvPr>
          <p:cNvSpPr txBox="1"/>
          <p:nvPr/>
        </p:nvSpPr>
        <p:spPr>
          <a:xfrm>
            <a:off x="7763090" y="301792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Bell MT" panose="02020503060305020303" pitchFamily="18" charset="0"/>
              </a:rPr>
              <a:t>Other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234619-8CD9-9880-DA91-ADE372ADFB19}"/>
              </a:ext>
            </a:extLst>
          </p:cNvPr>
          <p:cNvSpPr txBox="1"/>
          <p:nvPr/>
        </p:nvSpPr>
        <p:spPr>
          <a:xfrm>
            <a:off x="8594389" y="346594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Alternative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2403A8-CD7C-1530-90DD-FF3FC8BFE3C5}"/>
              </a:ext>
            </a:extLst>
          </p:cNvPr>
          <p:cNvSpPr txBox="1"/>
          <p:nvPr/>
        </p:nvSpPr>
        <p:spPr>
          <a:xfrm>
            <a:off x="8545513" y="3768287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Metal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DC1A4F-F302-208D-FC38-886B79306F84}"/>
              </a:ext>
            </a:extLst>
          </p:cNvPr>
          <p:cNvSpPr txBox="1"/>
          <p:nvPr/>
        </p:nvSpPr>
        <p:spPr>
          <a:xfrm>
            <a:off x="7537708" y="3317116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Rock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693EA5-7D27-C056-D071-763B408A17E8}"/>
              </a:ext>
            </a:extLst>
          </p:cNvPr>
          <p:cNvSpPr txBox="1"/>
          <p:nvPr/>
        </p:nvSpPr>
        <p:spPr>
          <a:xfrm>
            <a:off x="6922290" y="3563337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Experimental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AFD3CD-693D-9222-7207-527447A04729}"/>
              </a:ext>
            </a:extLst>
          </p:cNvPr>
          <p:cNvSpPr txBox="1"/>
          <p:nvPr/>
        </p:nvSpPr>
        <p:spPr>
          <a:xfrm>
            <a:off x="8363396" y="4099007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Punk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4A3EA-AF19-1671-E5A7-38417CEB806F}"/>
              </a:ext>
            </a:extLst>
          </p:cNvPr>
          <p:cNvSpPr txBox="1"/>
          <p:nvPr/>
        </p:nvSpPr>
        <p:spPr>
          <a:xfrm>
            <a:off x="7988472" y="4398197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Hip-hop/Rap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1CB68A-0EDB-FDB1-E595-22CD61CAFC92}"/>
              </a:ext>
            </a:extLst>
          </p:cNvPr>
          <p:cNvSpPr txBox="1"/>
          <p:nvPr/>
        </p:nvSpPr>
        <p:spPr>
          <a:xfrm>
            <a:off x="7618820" y="4636205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Ambient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A74AF1-6685-D710-895B-FECF2D2DE630}"/>
              </a:ext>
            </a:extLst>
          </p:cNvPr>
          <p:cNvSpPr txBox="1"/>
          <p:nvPr/>
        </p:nvSpPr>
        <p:spPr>
          <a:xfrm>
            <a:off x="6962491" y="3940911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Pop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44E7DF-4104-68EA-DB82-3D79A90DB43F}"/>
              </a:ext>
            </a:extLst>
          </p:cNvPr>
          <p:cNvSpPr txBox="1"/>
          <p:nvPr/>
        </p:nvSpPr>
        <p:spPr>
          <a:xfrm>
            <a:off x="7022661" y="4217377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Jazz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C8DFE20-FF82-0F87-FBF7-19226D3BE4AB}"/>
              </a:ext>
            </a:extLst>
          </p:cNvPr>
          <p:cNvCxnSpPr>
            <a:cxnSpLocks/>
          </p:cNvCxnSpPr>
          <p:nvPr/>
        </p:nvCxnSpPr>
        <p:spPr>
          <a:xfrm>
            <a:off x="8496706" y="3017926"/>
            <a:ext cx="120271" cy="1739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5F3BB08-CA6E-6C03-BA1A-6AB328FA54BA}"/>
              </a:ext>
            </a:extLst>
          </p:cNvPr>
          <p:cNvCxnSpPr/>
          <p:nvPr/>
        </p:nvCxnSpPr>
        <p:spPr>
          <a:xfrm>
            <a:off x="8156602" y="3227939"/>
            <a:ext cx="152400" cy="185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5E1CDB-BE20-A8D2-38EB-2992917343C0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8309002" y="3589058"/>
            <a:ext cx="285387" cy="665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1FE7ABB-09A4-32B9-EF4C-77C1BA70B01A}"/>
              </a:ext>
            </a:extLst>
          </p:cNvPr>
          <p:cNvCxnSpPr>
            <a:cxnSpLocks/>
          </p:cNvCxnSpPr>
          <p:nvPr/>
        </p:nvCxnSpPr>
        <p:spPr>
          <a:xfrm flipH="1" flipV="1">
            <a:off x="8382216" y="3775447"/>
            <a:ext cx="174625" cy="6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49058FE-2CF2-3C7D-03BA-C4C7F6204DE4}"/>
              </a:ext>
            </a:extLst>
          </p:cNvPr>
          <p:cNvCxnSpPr>
            <a:cxnSpLocks/>
          </p:cNvCxnSpPr>
          <p:nvPr/>
        </p:nvCxnSpPr>
        <p:spPr>
          <a:xfrm>
            <a:off x="7902408" y="3526430"/>
            <a:ext cx="274625" cy="2129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27A6943-8609-7CE2-B834-D5EFB73A6CE0}"/>
              </a:ext>
            </a:extLst>
          </p:cNvPr>
          <p:cNvCxnSpPr>
            <a:cxnSpLocks/>
          </p:cNvCxnSpPr>
          <p:nvPr/>
        </p:nvCxnSpPr>
        <p:spPr>
          <a:xfrm>
            <a:off x="7774451" y="3712168"/>
            <a:ext cx="329817" cy="653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C1C9FF3-021D-9320-F95A-6BEAABE42A32}"/>
              </a:ext>
            </a:extLst>
          </p:cNvPr>
          <p:cNvCxnSpPr>
            <a:cxnSpLocks/>
          </p:cNvCxnSpPr>
          <p:nvPr/>
        </p:nvCxnSpPr>
        <p:spPr>
          <a:xfrm flipH="1" flipV="1">
            <a:off x="8193206" y="3852957"/>
            <a:ext cx="239715" cy="27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8A872DA-9CD0-3578-5E1D-AFDEDF8902A7}"/>
              </a:ext>
            </a:extLst>
          </p:cNvPr>
          <p:cNvCxnSpPr>
            <a:cxnSpLocks/>
          </p:cNvCxnSpPr>
          <p:nvPr/>
        </p:nvCxnSpPr>
        <p:spPr>
          <a:xfrm flipH="1" flipV="1">
            <a:off x="8094027" y="4024302"/>
            <a:ext cx="22842" cy="3536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970303-DCBD-9B53-E1D7-BFA7C6E5BD62}"/>
              </a:ext>
            </a:extLst>
          </p:cNvPr>
          <p:cNvCxnSpPr>
            <a:cxnSpLocks/>
          </p:cNvCxnSpPr>
          <p:nvPr/>
        </p:nvCxnSpPr>
        <p:spPr>
          <a:xfrm flipV="1">
            <a:off x="7800745" y="4013808"/>
            <a:ext cx="202484" cy="6306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235E4DB-DC01-6960-B03C-3361F6E8C864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7352341" y="3936789"/>
            <a:ext cx="538296" cy="1272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EFF420E-88ED-0B16-95E5-F80778397567}"/>
              </a:ext>
            </a:extLst>
          </p:cNvPr>
          <p:cNvCxnSpPr>
            <a:cxnSpLocks/>
          </p:cNvCxnSpPr>
          <p:nvPr/>
        </p:nvCxnSpPr>
        <p:spPr>
          <a:xfrm flipV="1">
            <a:off x="7374497" y="4064022"/>
            <a:ext cx="367694" cy="2380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426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75F0B-11BB-CA58-9974-A6A1D285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Results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0A369A-CC9D-DB9E-669A-69425C7E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84" y="1368237"/>
            <a:ext cx="8092434" cy="4808726"/>
          </a:xfrm>
          <a:prstGeom prst="rect">
            <a:avLst/>
          </a:prstGeom>
        </p:spPr>
      </p:pic>
      <p:sp>
        <p:nvSpPr>
          <p:cNvPr id="4" name="Flowchart: Alternate Process 3">
            <a:hlinkClick r:id="rId3" action="ppaction://hlinksldjump"/>
            <a:extLst>
              <a:ext uri="{FF2B5EF4-FFF2-40B4-BE49-F238E27FC236}">
                <a16:creationId xmlns:a16="http://schemas.microsoft.com/office/drawing/2014/main" id="{3FA36662-1235-F213-8097-C03E3968201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Viz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EBEF7D-2009-443D-500D-93E5E37C162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28/36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DAFEE-CD53-94BF-D106-9FEDC8F07B7A}"/>
              </a:ext>
            </a:extLst>
          </p:cNvPr>
          <p:cNvSpPr/>
          <p:nvPr/>
        </p:nvSpPr>
        <p:spPr>
          <a:xfrm>
            <a:off x="6096001" y="2695575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8A75B-3015-CFD6-9DAF-9B3A1B05326F}"/>
              </a:ext>
            </a:extLst>
          </p:cNvPr>
          <p:cNvSpPr/>
          <p:nvPr/>
        </p:nvSpPr>
        <p:spPr>
          <a:xfrm>
            <a:off x="6096001" y="4076700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F917-7CB4-DBE7-F4E0-F40B486B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Counterfactual Simulation</a:t>
            </a:r>
            <a:r>
              <a:rPr lang="en-US" altLang="zh-CN" b="1" dirty="0"/>
              <a:t>s</a:t>
            </a:r>
            <a:endParaRPr 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61C8C-8729-A98A-EAF5-E8BD69FD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simulate several scenarios to answer our research questions: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Blocking platform-wide visibility (RQ1)</a:t>
            </a:r>
          </a:p>
          <a:p>
            <a:pPr lvl="1"/>
            <a:r>
              <a:rPr lang="en-US" dirty="0"/>
              <a:t>Blocking network-wide visibility (RQ1)</a:t>
            </a:r>
          </a:p>
          <a:p>
            <a:pPr lvl="1"/>
            <a:r>
              <a:rPr lang="en-US" dirty="0"/>
              <a:t>Blocking both (RQ1&amp;2)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Alternative platform-wide visibility rules (RQ2)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E644B3-A7FF-974E-5205-628092CB4A3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29/36</a:t>
            </a:r>
          </a:p>
        </p:txBody>
      </p:sp>
    </p:spTree>
    <p:extLst>
      <p:ext uri="{BB962C8B-B14F-4D97-AF65-F5344CB8AC3E}">
        <p14:creationId xmlns:p14="http://schemas.microsoft.com/office/powerpoint/2010/main" val="3227109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13413"/>
            <a:ext cx="10172700" cy="2031174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02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</p:spTree>
    <p:extLst>
      <p:ext uri="{BB962C8B-B14F-4D97-AF65-F5344CB8AC3E}">
        <p14:creationId xmlns:p14="http://schemas.microsoft.com/office/powerpoint/2010/main" val="346045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  <p:sp>
        <p:nvSpPr>
          <p:cNvPr id="4" name="Flowchart: Alternate Process 3">
            <a:hlinkClick r:id="rId3" action="ppaction://hlinksldjump"/>
            <a:extLst>
              <a:ext uri="{FF2B5EF4-FFF2-40B4-BE49-F238E27FC236}">
                <a16:creationId xmlns:a16="http://schemas.microsoft.com/office/drawing/2014/main" id="{EC6E1BE2-B1E1-A8E1-2FD8-EC2D23AF346F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Sales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055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93C7-CB46-5F5E-6831-94FF09A8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D2656-9337-088D-2E7E-B4DFC3E3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2464956" cy="674688"/>
          </a:xfrm>
        </p:spPr>
        <p:txBody>
          <a:bodyPr>
            <a:noAutofit/>
          </a:bodyPr>
          <a:lstStyle/>
          <a:p>
            <a:r>
              <a:rPr lang="en-US" sz="2800" b="1" dirty="0"/>
              <a:t>RQ1.2: </a:t>
            </a:r>
            <a:r>
              <a:rPr lang="en-US" altLang="zh-CN" sz="2800" b="1" dirty="0"/>
              <a:t>The Effect of Discovery Channel - </a:t>
            </a:r>
            <a:r>
              <a:rPr lang="en-US" sz="2800" b="1" dirty="0"/>
              <a:t>Market Concentration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867B27A-FB1D-251F-F5F7-54071CBB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812957"/>
              </p:ext>
            </p:extLst>
          </p:nvPr>
        </p:nvGraphicFramePr>
        <p:xfrm>
          <a:off x="2059674" y="1793781"/>
          <a:ext cx="7828129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81819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3746310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+13.52%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+20.95%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+48.65%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3135E71-0CCD-242E-03D0-B17AF6C473A5}"/>
              </a:ext>
            </a:extLst>
          </p:cNvPr>
          <p:cNvSpPr txBox="1"/>
          <p:nvPr/>
        </p:nvSpPr>
        <p:spPr>
          <a:xfrm>
            <a:off x="1977502" y="3689274"/>
            <a:ext cx="8828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Bell MT" panose="02020503060305020303" pitchFamily="18" charset="0"/>
              </a:rPr>
              <a:t>Notes.</a:t>
            </a:r>
            <a:r>
              <a:rPr lang="en-US" dirty="0">
                <a:latin typeface="Bell MT" panose="02020503060305020303" pitchFamily="18" charset="0"/>
              </a:rPr>
              <a:t> HHI refers to the Herfindahl-Hirschman Index. HHI↑ ⇒ market concentration↑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64D82C9-9850-A00E-C784-137B718A8A90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Visibility makes consumer purchases more diverse</a:t>
            </a:r>
          </a:p>
          <a:p>
            <a:r>
              <a:rPr lang="en-US" altLang="zh-CN" dirty="0"/>
              <a:t>Network-wide visibility has a larger effect on </a:t>
            </a:r>
            <a:r>
              <a:rPr lang="en-US" dirty="0"/>
              <a:t>diverse </a:t>
            </a:r>
            <a:r>
              <a:rPr lang="en-US" altLang="zh-CN" dirty="0"/>
              <a:t>purchases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D8FB82C-48F9-1D4E-B408-E97D15642106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31/36</a:t>
            </a:r>
          </a:p>
        </p:txBody>
      </p:sp>
    </p:spTree>
    <p:extLst>
      <p:ext uri="{BB962C8B-B14F-4D97-AF65-F5344CB8AC3E}">
        <p14:creationId xmlns:p14="http://schemas.microsoft.com/office/powerpoint/2010/main" val="374293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0594-7D31-D366-B326-A725C089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4A77-CFED-40EE-6F48-B95CE6C9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257129" cy="674688"/>
          </a:xfrm>
        </p:spPr>
        <p:txBody>
          <a:bodyPr>
            <a:noAutofit/>
          </a:bodyPr>
          <a:lstStyle/>
          <a:p>
            <a:r>
              <a:rPr lang="en-US" sz="3200" b="1" dirty="0"/>
              <a:t>RQ1.3: </a:t>
            </a:r>
            <a:r>
              <a:rPr lang="en-US" altLang="zh-CN" sz="3200" b="1" dirty="0"/>
              <a:t>The Effect of Discovery Channel – Consumer Welfare</a:t>
            </a:r>
            <a:endParaRPr lang="en-US" sz="3200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EFD7000-D66C-9BBB-9FAC-22BC79021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2984479"/>
              </p:ext>
            </p:extLst>
          </p:nvPr>
        </p:nvGraphicFramePr>
        <p:xfrm>
          <a:off x="382138" y="1773310"/>
          <a:ext cx="11484590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19014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047164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  <a:gridCol w="2634018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3084394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∆Consumer Welfare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+0.14%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-15.81%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-15.93%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-12.05%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-12.14%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+0.25%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-29.32%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-29.50%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9916721-BD40-BDB6-B881-0CD1A34B7432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Consumers do not </a:t>
            </a:r>
            <a:r>
              <a:rPr lang="en-US" altLang="zh-CN" dirty="0"/>
              <a:t>explore </a:t>
            </a:r>
            <a:r>
              <a:rPr lang="en-US" dirty="0"/>
              <a:t>more frequently but purchase more</a:t>
            </a:r>
          </a:p>
          <a:p>
            <a:pPr lvl="1"/>
            <a:r>
              <a:rPr lang="en-US" dirty="0"/>
              <a:t>Discovery becomes more efficient</a:t>
            </a:r>
          </a:p>
          <a:p>
            <a:r>
              <a:rPr lang="en-US" dirty="0"/>
              <a:t>Consumer welfare increases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B5175-0605-7DD3-F9F6-DEF318E56E63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32/36</a:t>
            </a:r>
          </a:p>
        </p:txBody>
      </p:sp>
    </p:spTree>
    <p:extLst>
      <p:ext uri="{BB962C8B-B14F-4D97-AF65-F5344CB8AC3E}">
        <p14:creationId xmlns:p14="http://schemas.microsoft.com/office/powerpoint/2010/main" val="58363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71737"/>
            <a:ext cx="10172700" cy="1914525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(RQ2)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30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0E66-EFA2-1D71-A4ED-FB915C56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9790A-4930-39FA-ED93-EAE986B7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38" y="3651724"/>
            <a:ext cx="11257128" cy="2142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Gain(platform-wide visibility only) + Gain(network-wide visibility only)</a:t>
            </a:r>
            <a:r>
              <a:rPr lang="en-US" sz="2000" dirty="0"/>
              <a:t> </a:t>
            </a:r>
            <a:r>
              <a:rPr lang="en-US" sz="2400" dirty="0"/>
              <a:t>&gt; Gain(both)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altLang="zh-CN" sz="2400" dirty="0"/>
              <a:t>T</a:t>
            </a:r>
            <a:r>
              <a:rPr lang="en-US" sz="2400" dirty="0"/>
              <a:t>he friction is small in </a:t>
            </a:r>
            <a:r>
              <a:rPr lang="en-US" altLang="zh-CN" sz="2400" dirty="0"/>
              <a:t>total</a:t>
            </a:r>
            <a:r>
              <a:rPr lang="en-US" sz="2400" dirty="0"/>
              <a:t> purchase and consumer welfare</a:t>
            </a:r>
            <a:br>
              <a:rPr lang="en-US" sz="2400" dirty="0"/>
            </a:br>
            <a:r>
              <a:rPr lang="en-US" sz="2400" dirty="0"/>
              <a:t>⇒ should not replace one with another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D5B84B-13D5-36F3-7C52-622954C7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RQ2.1: The Design of Discover Channel - Friction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D4B2D5A-C027-01FA-1A94-238ED0013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9528246"/>
              </p:ext>
            </p:extLst>
          </p:nvPr>
        </p:nvGraphicFramePr>
        <p:xfrm>
          <a:off x="1008162" y="1517118"/>
          <a:ext cx="10005079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65912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076371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1156385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Consumer Welfare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-15.81%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-15.93%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+13.52%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-12.05%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-12.14%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+20.95%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-29.32%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-29.50%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+48.65%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8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Friction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Bell MT" panose="020205030603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-14.18%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42431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0B1A95-6DD2-A35C-5B36-74DEB663558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33/36</a:t>
            </a:r>
          </a:p>
        </p:txBody>
      </p:sp>
    </p:spTree>
    <p:extLst>
      <p:ext uri="{BB962C8B-B14F-4D97-AF65-F5344CB8AC3E}">
        <p14:creationId xmlns:p14="http://schemas.microsoft.com/office/powerpoint/2010/main" val="29244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Changing the rule of platform-wide visibility by</a:t>
                </a:r>
                <a:br>
                  <a:rPr lang="en-US" altLang="zh-CN" sz="2400" dirty="0"/>
                </a:br>
                <a:r>
                  <a:rPr lang="en-US" altLang="zh-CN" sz="2400" dirty="0"/>
                  <a:t>T</a:t>
                </a:r>
                <a:r>
                  <a:rPr lang="en-US" sz="2400" dirty="0"/>
                  <a:t>emperature-smoothed Bernoulli sampling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Exposure prob.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{1.0, 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⋅ 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− 1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the smoothing parameters;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is the number of obs. of class </a:t>
                </a:r>
                <a:r>
                  <a:rPr lang="en-US" sz="2000" i="1" dirty="0"/>
                  <a:t>k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is uniquely solved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  <a:blipFill>
                <a:blip r:embed="rId2"/>
                <a:stretch>
                  <a:fillRect l="-624" b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RQ2.2: Alternative Designs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419EA7-FF1F-B372-E2D3-4823B99DEE05}"/>
              </a:ext>
            </a:extLst>
          </p:cNvPr>
          <p:cNvGrpSpPr/>
          <p:nvPr/>
        </p:nvGrpSpPr>
        <p:grpSpPr>
          <a:xfrm>
            <a:off x="6875923" y="1743106"/>
            <a:ext cx="4983676" cy="3999621"/>
            <a:chOff x="383940" y="2177341"/>
            <a:chExt cx="4983676" cy="39996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B85711-EE8C-1FEA-6CC0-C0FB4FCEC9C0}"/>
                </a:ext>
              </a:extLst>
            </p:cNvPr>
            <p:cNvGrpSpPr/>
            <p:nvPr/>
          </p:nvGrpSpPr>
          <p:grpSpPr>
            <a:xfrm>
              <a:off x="383940" y="2455817"/>
              <a:ext cx="4983676" cy="3721145"/>
              <a:chOff x="3605348" y="1569314"/>
              <a:chExt cx="6148251" cy="459069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0F39382-4310-C112-25A2-CD27DAF97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05348" y="1569314"/>
                <a:ext cx="6148251" cy="4590694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FB3CDEA-EE15-6764-A5CD-6E542EC09B31}"/>
                  </a:ext>
                </a:extLst>
              </p:cNvPr>
              <p:cNvSpPr/>
              <p:nvPr/>
            </p:nvSpPr>
            <p:spPr>
              <a:xfrm>
                <a:off x="4310743" y="2055223"/>
                <a:ext cx="1785257" cy="20900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C89C5F-68AA-FF7D-1E32-A03CB1E10172}"/>
                </a:ext>
              </a:extLst>
            </p:cNvPr>
            <p:cNvSpPr txBox="1"/>
            <p:nvPr/>
          </p:nvSpPr>
          <p:spPr>
            <a:xfrm>
              <a:off x="2038016" y="2177341"/>
              <a:ext cx="1675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ll MT" panose="02020503060305020303" pitchFamily="18" charset="0"/>
                </a:rPr>
                <a:t>A Toy Example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933B6B1-30C6-9174-4ADF-31D8DD330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82"/>
          <a:stretch/>
        </p:blipFill>
        <p:spPr>
          <a:xfrm>
            <a:off x="838200" y="1901479"/>
            <a:ext cx="5641402" cy="1002523"/>
          </a:xfrm>
          <a:prstGeom prst="rect">
            <a:avLst/>
          </a:prstGeom>
        </p:spPr>
      </p:pic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B0818E1D-9D22-65F6-0305-FA76183B044C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34/36</a:t>
            </a:r>
          </a:p>
        </p:txBody>
      </p:sp>
    </p:spTree>
    <p:extLst>
      <p:ext uri="{BB962C8B-B14F-4D97-AF65-F5344CB8AC3E}">
        <p14:creationId xmlns:p14="http://schemas.microsoft.com/office/powerpoint/2010/main" val="24479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5EC8BF-8FE5-F4F1-0706-D61C8A238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91" y="2435625"/>
            <a:ext cx="4991264" cy="29480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RQ2.2: Alternative Designs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4E5D-DE69-CCA6-E6FB-526303D016F2}"/>
              </a:ext>
            </a:extLst>
          </p:cNvPr>
          <p:cNvGrpSpPr/>
          <p:nvPr/>
        </p:nvGrpSpPr>
        <p:grpSpPr>
          <a:xfrm>
            <a:off x="698024" y="1544202"/>
            <a:ext cx="5701844" cy="4722647"/>
            <a:chOff x="3136424" y="1544202"/>
            <a:chExt cx="5701844" cy="472264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D57121C-BCBF-4609-45B8-7BC74D26897F}"/>
                </a:ext>
              </a:extLst>
            </p:cNvPr>
            <p:cNvGrpSpPr/>
            <p:nvPr/>
          </p:nvGrpSpPr>
          <p:grpSpPr>
            <a:xfrm>
              <a:off x="3136424" y="1544202"/>
              <a:ext cx="5701844" cy="4632761"/>
              <a:chOff x="6198013" y="2177341"/>
              <a:chExt cx="5155787" cy="41890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276DB54-1CEF-12FF-FDF4-82E52534F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8013" y="2516775"/>
                <a:ext cx="5155787" cy="3849654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8A6CC-5D7F-BF94-F1EA-AD5C4A0087BB}"/>
                  </a:ext>
                </a:extLst>
              </p:cNvPr>
              <p:cNvSpPr txBox="1"/>
              <p:nvPr/>
            </p:nvSpPr>
            <p:spPr>
              <a:xfrm>
                <a:off x="7160301" y="2177341"/>
                <a:ext cx="37025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ll MT" panose="02020503060305020303" pitchFamily="18" charset="0"/>
                  </a:rPr>
                  <a:t>Outcomes of Counterfactual Designs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B8DAF4-9A6B-C225-DD10-920B5C81092B}"/>
                </a:ext>
              </a:extLst>
            </p:cNvPr>
            <p:cNvGrpSpPr/>
            <p:nvPr/>
          </p:nvGrpSpPr>
          <p:grpSpPr>
            <a:xfrm>
              <a:off x="5276462" y="5928890"/>
              <a:ext cx="2736455" cy="337959"/>
              <a:chOff x="-97051" y="3011842"/>
              <a:chExt cx="2736455" cy="337959"/>
            </a:xfrm>
            <a:solidFill>
              <a:schemeClr val="bg1"/>
            </a:solidFill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7180731-252C-D7DC-D790-0987E9DEF7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3349801"/>
                <a:ext cx="1959429" cy="0"/>
              </a:xfrm>
              <a:prstGeom prst="straightConnector1">
                <a:avLst/>
              </a:prstGeom>
              <a:grpFill/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8442EB-D24D-B0D2-88C0-5B4773BEFBA5}"/>
                  </a:ext>
                </a:extLst>
              </p:cNvPr>
              <p:cNvSpPr txBox="1"/>
              <p:nvPr/>
            </p:nvSpPr>
            <p:spPr>
              <a:xfrm>
                <a:off x="-97051" y="3011842"/>
                <a:ext cx="2736455" cy="27699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Bell MT" panose="02020503060305020303" pitchFamily="18" charset="0"/>
                  </a:rPr>
                  <a:t>Niche transactions</a:t>
                </a:r>
                <a:r>
                  <a:rPr lang="en-US" sz="1200" b="1" dirty="0">
                    <a:latin typeface="Bell MT" panose="02020503060305020303" pitchFamily="18" charset="0"/>
                  </a:rPr>
                  <a:t> get more exposure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80181D-4302-E5C8-7B30-19978129376D}"/>
              </a:ext>
            </a:extLst>
          </p:cNvPr>
          <p:cNvGrpSpPr/>
          <p:nvPr/>
        </p:nvGrpSpPr>
        <p:grpSpPr>
          <a:xfrm>
            <a:off x="6504295" y="1548329"/>
            <a:ext cx="5270500" cy="4722647"/>
            <a:chOff x="6580495" y="1544202"/>
            <a:chExt cx="5270500" cy="47226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E4CB436-486F-80E8-026D-B442632DEFF1}"/>
                </a:ext>
              </a:extLst>
            </p:cNvPr>
            <p:cNvGrpSpPr/>
            <p:nvPr/>
          </p:nvGrpSpPr>
          <p:grpSpPr>
            <a:xfrm>
              <a:off x="6580495" y="1544202"/>
              <a:ext cx="5270500" cy="3952875"/>
              <a:chOff x="6580495" y="1748426"/>
              <a:chExt cx="5270500" cy="3952875"/>
            </a:xfrm>
          </p:grpSpPr>
          <p:pic>
            <p:nvPicPr>
              <p:cNvPr id="2050" name="Picture 2" descr="Fair Is Not Equal | By Rebecca Michelle">
                <a:extLst>
                  <a:ext uri="{FF2B5EF4-FFF2-40B4-BE49-F238E27FC236}">
                    <a16:creationId xmlns:a16="http://schemas.microsoft.com/office/drawing/2014/main" id="{963BE0EE-546D-9FA8-39F4-4BF58D29A9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0495" y="1748426"/>
                <a:ext cx="5270500" cy="3952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BF985D3-3E3F-334B-A32D-B24A6169C6AA}"/>
                      </a:ext>
                    </a:extLst>
                  </p:cNvPr>
                  <p:cNvSpPr txBox="1"/>
                  <p:nvPr/>
                </p:nvSpPr>
                <p:spPr>
                  <a:xfrm>
                    <a:off x="7018644" y="5176712"/>
                    <a:ext cx="1858655" cy="400110"/>
                  </a:xfrm>
                  <a:prstGeom prst="rect">
                    <a:avLst/>
                  </a:prstGeom>
                  <a:solidFill>
                    <a:srgbClr val="84BF4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sz="2000" b="1" dirty="0">
                      <a:latin typeface="Bell MT" panose="02020503060305020303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BF985D3-3E3F-334B-A32D-B24A6169C6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8644" y="5176712"/>
                    <a:ext cx="1858655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0E27B2E-9CAC-E9E8-ABD2-0AC12DA8D2F0}"/>
                      </a:ext>
                    </a:extLst>
                  </p:cNvPr>
                  <p:cNvSpPr txBox="1"/>
                  <p:nvPr/>
                </p:nvSpPr>
                <p:spPr>
                  <a:xfrm>
                    <a:off x="9635321" y="5176712"/>
                    <a:ext cx="1858655" cy="400110"/>
                  </a:xfrm>
                  <a:prstGeom prst="rect">
                    <a:avLst/>
                  </a:prstGeom>
                  <a:solidFill>
                    <a:srgbClr val="84BF4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n-US" sz="2000" b="1" dirty="0">
                      <a:latin typeface="Bell MT" panose="02020503060305020303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0E27B2E-9CAC-E9E8-ABD2-0AC12DA8D2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5321" y="5176712"/>
                    <a:ext cx="1858655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7B2C49-A338-98F0-8EA7-8BDF1F602606}"/>
                </a:ext>
              </a:extLst>
            </p:cNvPr>
            <p:cNvSpPr txBox="1"/>
            <p:nvPr/>
          </p:nvSpPr>
          <p:spPr>
            <a:xfrm>
              <a:off x="7297460" y="5620518"/>
              <a:ext cx="40809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Bell MT" panose="02020503060305020303" pitchFamily="18" charset="0"/>
                </a:rPr>
                <a:t>Giving niche segments more visibility </a:t>
              </a:r>
            </a:p>
            <a:p>
              <a:r>
                <a:rPr lang="en-US" b="1" dirty="0">
                  <a:solidFill>
                    <a:srgbClr val="C00000"/>
                  </a:solidFill>
                  <a:latin typeface="Bell MT" panose="02020503060305020303" pitchFamily="18" charset="0"/>
                </a:rPr>
                <a:t>further improves market outcomes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BB74AD-451E-E71B-2A6D-744BB934F56D}"/>
                </a:ext>
              </a:extLst>
            </p:cNvPr>
            <p:cNvSpPr txBox="1"/>
            <p:nvPr/>
          </p:nvSpPr>
          <p:spPr>
            <a:xfrm>
              <a:off x="6896100" y="3628331"/>
              <a:ext cx="802720" cy="307777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ell MT" panose="02020503060305020303" pitchFamily="18" charset="0"/>
                </a:rPr>
                <a:t>Popular</a:t>
              </a:r>
            </a:p>
          </p:txBody>
        </p: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93EB98EB-7897-81E2-6F66-98B5D3B4B0D6}"/>
                </a:ext>
              </a:extLst>
            </p:cNvPr>
            <p:cNvSpPr txBox="1"/>
            <p:nvPr/>
          </p:nvSpPr>
          <p:spPr>
            <a:xfrm>
              <a:off x="8450966" y="3628331"/>
              <a:ext cx="643959" cy="307777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ell MT" panose="02020503060305020303" pitchFamily="18" charset="0"/>
                </a:rPr>
                <a:t>Niche</a:t>
              </a:r>
            </a:p>
          </p:txBody>
        </p:sp>
      </p:grpSp>
      <p:sp>
        <p:nvSpPr>
          <p:cNvPr id="2049" name="Slide Number Placeholder 3">
            <a:extLst>
              <a:ext uri="{FF2B5EF4-FFF2-40B4-BE49-F238E27FC236}">
                <a16:creationId xmlns:a16="http://schemas.microsoft.com/office/drawing/2014/main" id="{14C04B7E-8E92-6E2A-947B-490D37CC599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35/36</a:t>
            </a:r>
          </a:p>
        </p:txBody>
      </p:sp>
    </p:spTree>
    <p:extLst>
      <p:ext uri="{BB962C8B-B14F-4D97-AF65-F5344CB8AC3E}">
        <p14:creationId xmlns:p14="http://schemas.microsoft.com/office/powerpoint/2010/main" val="12156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686050"/>
            <a:ext cx="10172700" cy="11239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Conclusions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39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Improve individual sales (reduced-form)</a:t>
            </a:r>
          </a:p>
          <a:p>
            <a:pPr lvl="1"/>
            <a:r>
              <a:rPr lang="en-US" dirty="0"/>
              <a:t>Improve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CD3F0B-05C3-B4DF-AD25-7783236F298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36/36</a:t>
            </a:r>
          </a:p>
        </p:txBody>
      </p:sp>
    </p:spTree>
    <p:extLst>
      <p:ext uri="{BB962C8B-B14F-4D97-AF65-F5344CB8AC3E}">
        <p14:creationId xmlns:p14="http://schemas.microsoft.com/office/powerpoint/2010/main" val="136230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Thank You!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70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6">
            <a:extLst>
              <a:ext uri="{FF2B5EF4-FFF2-40B4-BE49-F238E27FC236}">
                <a16:creationId xmlns:a16="http://schemas.microsoft.com/office/drawing/2014/main" id="{977BC904-BD83-43AD-7AF7-34BAE5180E80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Bell MT" panose="02020503060305020303" pitchFamily="18" charset="0"/>
              </a:rPr>
              <a:t>Research Portfolio and Pipeline</a:t>
            </a:r>
          </a:p>
        </p:txBody>
      </p: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E70B1EE2-9334-21A2-996F-C8BDDBF8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10910"/>
              </p:ext>
            </p:extLst>
          </p:nvPr>
        </p:nvGraphicFramePr>
        <p:xfrm>
          <a:off x="1336675" y="1069975"/>
          <a:ext cx="8229388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142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592070">
                  <a:extLst>
                    <a:ext uri="{9D8B030D-6E8A-4147-A177-3AD203B41FA5}">
                      <a16:colId xmlns:a16="http://schemas.microsoft.com/office/drawing/2014/main" val="8372673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451414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[4]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[7]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9F697DEE-DD45-C884-633E-EC7346B7A212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Revise &amp; resubmit,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Yan “Lucy” Liu. The value of discoverability in Direct-to-fan Marketplaces: Evidence from an online music platform. Job Market Paper. (Anticipated submission: Spring 2027)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Accepted by CIST 2026. Ready to submit, targeting </a:t>
            </a:r>
            <a:r>
              <a:rPr lang="en-US" sz="1800" i="1" dirty="0">
                <a:latin typeface="Bell MT" panose="02020503060305020303" pitchFamily="18" charset="0"/>
              </a:rPr>
              <a:t>Information Systems Research</a:t>
            </a:r>
            <a:r>
              <a:rPr lang="en-US" sz="1800" dirty="0">
                <a:latin typeface="Bell MT" panose="02020503060305020303" pitchFamily="18" charset="0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(Anticipated submission: Spring 2027)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</p:spTree>
    <p:extLst>
      <p:ext uri="{BB962C8B-B14F-4D97-AF65-F5344CB8AC3E}">
        <p14:creationId xmlns:p14="http://schemas.microsoft.com/office/powerpoint/2010/main" val="32697626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Appendix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245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Exposure Rule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011F-9B5F-8C91-0256-5F7918896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1543137"/>
            <a:ext cx="6038095" cy="13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4C3A3-6F64-B119-E1B0-7B1D03A3B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3121025"/>
            <a:ext cx="6771428" cy="3190476"/>
          </a:xfrm>
          <a:prstGeom prst="rect">
            <a:avLst/>
          </a:prstGeom>
        </p:spPr>
      </p:pic>
      <p:sp>
        <p:nvSpPr>
          <p:cNvPr id="10" name="Flowchart: Alternate Process 9">
            <a:hlinkClick r:id="rId4" action="ppaction://hlinksldjump"/>
            <a:extLst>
              <a:ext uri="{FF2B5EF4-FFF2-40B4-BE49-F238E27FC236}">
                <a16:creationId xmlns:a16="http://schemas.microsoft.com/office/drawing/2014/main" id="{109C66B8-648A-9F85-2E17-E74C7A56E67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9221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Stacked </a:t>
            </a:r>
            <a:r>
              <a:rPr lang="en-US" altLang="zh-CN" b="1" dirty="0" err="1"/>
              <a:t>DiD</a:t>
            </a:r>
            <a:r>
              <a:rPr lang="en-US" altLang="zh-CN" b="1" dirty="0"/>
              <a:t> Design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3925890"/>
          </a:xfrm>
        </p:spPr>
        <p:txBody>
          <a:bodyPr>
            <a:normAutofit/>
          </a:bodyPr>
          <a:lstStyle/>
          <a:p>
            <a:r>
              <a:rPr lang="en-US" dirty="0"/>
              <a:t>We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i="1" dirty="0"/>
          </a:p>
          <a:p>
            <a:pPr lvl="1"/>
            <a:r>
              <a:rPr lang="en-US" i="1" dirty="0"/>
              <a:t>a</a:t>
            </a:r>
            <a:r>
              <a:rPr lang="en-US" dirty="0"/>
              <a:t>-artist, </a:t>
            </a:r>
            <a:r>
              <a:rPr lang="en-US" i="1" dirty="0"/>
              <a:t>e</a:t>
            </a:r>
            <a:r>
              <a:rPr lang="en-US" dirty="0"/>
              <a:t>-event time, </a:t>
            </a:r>
            <a:r>
              <a:rPr lang="en-US" i="1" dirty="0"/>
              <a:t>s</a:t>
            </a:r>
            <a:r>
              <a:rPr lang="en-US" dirty="0"/>
              <a:t>-sub-experiment, </a:t>
            </a:r>
            <a:r>
              <a:rPr lang="en-US" i="1" dirty="0"/>
              <a:t>κ</a:t>
            </a:r>
            <a:r>
              <a:rPr lang="en-US" dirty="0"/>
              <a:t>-window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/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𝑎𝑒𝑠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≠−1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𝑎𝑒𝑠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Alternate Process 2">
            <a:hlinkClick r:id="rId3" action="ppaction://hlinksldjump"/>
            <a:extLst>
              <a:ext uri="{FF2B5EF4-FFF2-40B4-BE49-F238E27FC236}">
                <a16:creationId xmlns:a16="http://schemas.microsoft.com/office/drawing/2014/main" id="{32D09994-00ED-0061-C4A3-4F8F4479162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3699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Descriptive Statistics</a:t>
            </a:r>
            <a:endParaRPr lang="en-US" b="1" dirty="0"/>
          </a:p>
        </p:txBody>
      </p:sp>
      <p:sp>
        <p:nvSpPr>
          <p:cNvPr id="3" name="Flowchart: Alternate Process 2">
            <a:hlinkClick r:id="rId2" action="ppaction://hlinksldjump"/>
            <a:extLst>
              <a:ext uri="{FF2B5EF4-FFF2-40B4-BE49-F238E27FC236}">
                <a16:creationId xmlns:a16="http://schemas.microsoft.com/office/drawing/2014/main" id="{32D09994-00ED-0061-C4A3-4F8F4479162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8DAF5-15BD-599E-4AC6-B4853291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012" y="2190750"/>
            <a:ext cx="8933975" cy="281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7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E8E9-DBF5-4A9A-1CEC-05B10D9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Genre-level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5D4F-86A9-43B8-72E6-87351676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582400" cy="4351338"/>
          </a:xfrm>
        </p:spPr>
        <p:txBody>
          <a:bodyPr/>
          <a:lstStyle/>
          <a:p>
            <a:r>
              <a:rPr lang="en-US" dirty="0"/>
              <a:t>Consumers and artists can select at most one genre to define themselves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3EB27B-F2A2-B1E7-347B-29B9EDDA3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1" y="2268813"/>
            <a:ext cx="4856234" cy="38369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3EF035-3155-D219-A7D5-F6C0833F7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83" y="2268813"/>
            <a:ext cx="4856234" cy="38369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9FF0C1-E5F7-9630-3465-E286B02D3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3" y="2268812"/>
            <a:ext cx="4856234" cy="38369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9CC4ED4-E47A-A462-8D54-4A0E4CAFF6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00" t="31100" b="25174"/>
          <a:stretch/>
        </p:blipFill>
        <p:spPr>
          <a:xfrm>
            <a:off x="9926128" y="2897462"/>
            <a:ext cx="1636144" cy="2737306"/>
          </a:xfrm>
          <a:prstGeom prst="rect">
            <a:avLst/>
          </a:prstGeom>
        </p:spPr>
      </p:pic>
      <p:sp>
        <p:nvSpPr>
          <p:cNvPr id="5" name="Flowchart: Alternate Process 4">
            <a:hlinkClick r:id="rId6" action="ppaction://hlinksldjump"/>
            <a:extLst>
              <a:ext uri="{FF2B5EF4-FFF2-40B4-BE49-F238E27FC236}">
                <a16:creationId xmlns:a16="http://schemas.microsoft.com/office/drawing/2014/main" id="{21DD517F-1B63-A30C-2541-BB9B31671B00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570901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Discussions of Model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Probabilistic choice sets (Manski 1977) and limited attention (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2008)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We embed the economic logic of Manski (1977) and 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(2008) into a continuous-time context.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⇒ Our model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/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⁡ 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𝑖𝑎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4E01D73-FE4C-C07B-C30E-F718B912546C}"/>
              </a:ext>
            </a:extLst>
          </p:cNvPr>
          <p:cNvSpPr txBox="1"/>
          <p:nvPr/>
        </p:nvSpPr>
        <p:spPr>
          <a:xfrm>
            <a:off x="6841629" y="2687670"/>
            <a:ext cx="398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consideration set         conditional 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/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Alternate Process 7">
            <a:hlinkClick r:id="rId5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99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Identification Check</a:t>
            </a:r>
          </a:p>
        </p:txBody>
      </p:sp>
      <p:sp>
        <p:nvSpPr>
          <p:cNvPr id="8" name="Flowchart: Alternate Process 7">
            <a:hlinkClick r:id="rId2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5A286F-4AB0-6132-DE2D-8276E905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91" y="1786157"/>
            <a:ext cx="9114469" cy="407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180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2B417-9DD2-A41B-8991-1BA28A4C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Process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089A6-6D91-EF11-C397-EFDCF5EB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84393"/>
            <a:ext cx="10744200" cy="2787769"/>
          </a:xfrm>
        </p:spPr>
        <p:txBody>
          <a:bodyPr/>
          <a:lstStyle/>
          <a:p>
            <a:r>
              <a:rPr lang="en-US" dirty="0"/>
              <a:t>Point estimation</a:t>
            </a:r>
          </a:p>
          <a:p>
            <a:endParaRPr lang="en-US" dirty="0"/>
          </a:p>
          <a:p>
            <a:r>
              <a:rPr lang="en-US" dirty="0"/>
              <a:t>Point estimation with statistical accuracy (another NN to predict std.)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732F5C-E62C-DF3D-4B3A-4985F0A3F855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Draw different parameter sets. For each set, simulate (1) arrivals, (2) encounters, and (3) purchases.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6E145C-DECC-07FE-7175-7C2C9B1DB568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Train a NN to map simulated demand to the corresponding parameter set.</a:t>
            </a:r>
          </a:p>
        </p:txBody>
      </p:sp>
      <p:cxnSp>
        <p:nvCxnSpPr>
          <p:cNvPr id="6" name="Straight Arrow Connector 13">
            <a:extLst>
              <a:ext uri="{FF2B5EF4-FFF2-40B4-BE49-F238E27FC236}">
                <a16:creationId xmlns:a16="http://schemas.microsoft.com/office/drawing/2014/main" id="{9ED4A833-88F9-06D9-55C0-2D193C108F7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4">
            <a:extLst>
              <a:ext uri="{FF2B5EF4-FFF2-40B4-BE49-F238E27FC236}">
                <a16:creationId xmlns:a16="http://schemas.microsoft.com/office/drawing/2014/main" id="{99D8B81A-9A4E-C3DE-2020-08278CD1ED75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Use the observed demand data as input of the trained NN and obtain the estimation and statistical accuracy.</a:t>
            </a:r>
          </a:p>
        </p:txBody>
      </p:sp>
      <p:cxnSp>
        <p:nvCxnSpPr>
          <p:cNvPr id="8" name="Straight Arrow Connector 15">
            <a:extLst>
              <a:ext uri="{FF2B5EF4-FFF2-40B4-BE49-F238E27FC236}">
                <a16:creationId xmlns:a16="http://schemas.microsoft.com/office/drawing/2014/main" id="{C526574E-B86F-148B-87C4-3C20EEA2310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/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𝑴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/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Alternate Process 11">
            <a:hlinkClick r:id="rId4" action="ppaction://hlinksldjump"/>
            <a:extLst>
              <a:ext uri="{FF2B5EF4-FFF2-40B4-BE49-F238E27FC236}">
                <a16:creationId xmlns:a16="http://schemas.microsoft.com/office/drawing/2014/main" id="{25223541-E3D6-5DA6-3755-54A2E90A6F3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24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F3C56-ECEC-08F0-35B6-0EC3CC42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 Fit (Alternative Settings)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539877A-04FC-32A2-C611-EE83DC299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736" y="1383021"/>
            <a:ext cx="7798759" cy="5080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B3814-F30F-4276-F413-20267FE4E4E3}"/>
              </a:ext>
            </a:extLst>
          </p:cNvPr>
          <p:cNvSpPr txBox="1"/>
          <p:nvPr/>
        </p:nvSpPr>
        <p:spPr>
          <a:xfrm>
            <a:off x="2676525" y="1383021"/>
            <a:ext cx="74485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Platform-wide Visibility      Without Network-wide Visibility        Without Both Types of Visibility</a:t>
            </a:r>
          </a:p>
        </p:txBody>
      </p:sp>
      <p:sp>
        <p:nvSpPr>
          <p:cNvPr id="5" name="Flowchart: Alternate Process 4">
            <a:hlinkClick r:id="rId3" action="ppaction://hlinksldjump"/>
            <a:extLst>
              <a:ext uri="{FF2B5EF4-FFF2-40B4-BE49-F238E27FC236}">
                <a16:creationId xmlns:a16="http://schemas.microsoft.com/office/drawing/2014/main" id="{1DDE4418-9BB7-E7E2-D627-82CFF376418F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996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BB2BF-B9F5-8D89-0311-DA4F80D4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Shapes of Visibility Shocks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B8C42-14C3-B5EF-6EA3-878072828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385" y="1982229"/>
            <a:ext cx="4171429" cy="37714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1AE71-2CF6-445E-9D19-5295E36F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01" y="1982229"/>
            <a:ext cx="4057143" cy="374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737CA9-D6FE-E550-F40A-3AC1CD4F781A}"/>
              </a:ext>
            </a:extLst>
          </p:cNvPr>
          <p:cNvSpPr txBox="1"/>
          <p:nvPr/>
        </p:nvSpPr>
        <p:spPr>
          <a:xfrm>
            <a:off x="2178844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Platform-wide Visibility Shock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12462-4A06-6F3A-1042-D9A443061249}"/>
              </a:ext>
            </a:extLst>
          </p:cNvPr>
          <p:cNvSpPr txBox="1"/>
          <p:nvPr/>
        </p:nvSpPr>
        <p:spPr>
          <a:xfrm>
            <a:off x="6915150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Network-wide Visibility Shock</a:t>
            </a:r>
          </a:p>
        </p:txBody>
      </p:sp>
      <p:sp>
        <p:nvSpPr>
          <p:cNvPr id="3" name="Flowchart: Alternate Process 2">
            <a:hlinkClick r:id="rId4" action="ppaction://hlinksldjump"/>
            <a:extLst>
              <a:ext uri="{FF2B5EF4-FFF2-40B4-BE49-F238E27FC236}">
                <a16:creationId xmlns:a16="http://schemas.microsoft.com/office/drawing/2014/main" id="{FA8DF3F1-2F32-7965-AA67-64F5752773D2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6807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F16E-4587-9B23-4087-15B9712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4B790F-9E63-4B46-6EB3-89F468CD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Wayback Machine to Infer Total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F2051-E17C-9496-3518-1FDD4309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428999"/>
            <a:ext cx="10744200" cy="2443163"/>
          </a:xfrm>
        </p:spPr>
        <p:txBody>
          <a:bodyPr/>
          <a:lstStyle/>
          <a:p>
            <a:r>
              <a:rPr lang="en-US" dirty="0"/>
              <a:t>May 1-May 2: cross $1.72B</a:t>
            </a:r>
          </a:p>
          <a:p>
            <a:r>
              <a:rPr lang="en-US" dirty="0"/>
              <a:t>May 31-June 1: cross $1.73B</a:t>
            </a:r>
          </a:p>
          <a:p>
            <a:r>
              <a:rPr lang="en-US" dirty="0"/>
              <a:t>May 3-May 30 (Our analysis period): approximately $10M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394D3A-F42D-1F7F-0BCB-8F4A4B07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77" y="1570957"/>
            <a:ext cx="9266553" cy="1643091"/>
          </a:xfrm>
          <a:prstGeom prst="rect">
            <a:avLst/>
          </a:prstGeom>
        </p:spPr>
      </p:pic>
      <p:sp>
        <p:nvSpPr>
          <p:cNvPr id="2" name="Flowchart: Alternate Process 1">
            <a:hlinkClick r:id="rId3" action="ppaction://hlinksldjump"/>
            <a:extLst>
              <a:ext uri="{FF2B5EF4-FFF2-40B4-BE49-F238E27FC236}">
                <a16:creationId xmlns:a16="http://schemas.microsoft.com/office/drawing/2014/main" id="{E9CB0E84-E469-2F1D-6AF6-925FB669ADE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535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12209</TotalTime>
  <Words>2531</Words>
  <Application>Microsoft Office PowerPoint</Application>
  <PresentationFormat>Widescreen</PresentationFormat>
  <Paragraphs>501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Bell MT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Examples</vt:lpstr>
      <vt:lpstr>Market is Expanding Quickly</vt:lpstr>
      <vt:lpstr>Direct-to-fan Marketplace</vt:lpstr>
      <vt:lpstr>Discovery Challenge</vt:lpstr>
      <vt:lpstr>A Widely Adopted Design</vt:lpstr>
      <vt:lpstr>Different Designs of Discovery Channels</vt:lpstr>
      <vt:lpstr>Different Designs of Discovery Channels</vt:lpstr>
      <vt:lpstr>Research Questions</vt:lpstr>
      <vt:lpstr>Related Literature</vt:lpstr>
      <vt:lpstr>Preview of Findings</vt:lpstr>
      <vt:lpstr>Research Context &amp; Data</vt:lpstr>
      <vt:lpstr>Research Context</vt:lpstr>
      <vt:lpstr>Marketplace Overview &amp; Discovery Challenge</vt:lpstr>
      <vt:lpstr>Discovery Channel 1: Platform-wide Visibility</vt:lpstr>
      <vt:lpstr>Discovery Channel 2: Network-wide Visibility</vt:lpstr>
      <vt:lpstr>How Do Purchases Lead to Discoverability</vt:lpstr>
      <vt:lpstr>Data</vt:lpstr>
      <vt:lpstr>Reduced-form Evidence: DiD Design</vt:lpstr>
      <vt:lpstr>Individual Sales</vt:lpstr>
      <vt:lpstr>Reduced-form Evidence: Results (RQ1, partially)</vt:lpstr>
      <vt:lpstr>Discovery Channel 1: Platform-wide Visibility</vt:lpstr>
      <vt:lpstr>Discovery Channel 2: Network-wide Visibility</vt:lpstr>
      <vt:lpstr>Mechanisms 1: Platform-wide Visibility</vt:lpstr>
      <vt:lpstr>Mechanisms 2: Network-wide Visibility</vt:lpstr>
      <vt:lpstr>Concerns on Market Composition</vt:lpstr>
      <vt:lpstr>Discussions</vt:lpstr>
      <vt:lpstr>Structural Model: Setup</vt:lpstr>
      <vt:lpstr>Modeling Challenges</vt:lpstr>
      <vt:lpstr>Consumer Decision Process</vt:lpstr>
      <vt:lpstr>Capture the Evolving Visibility</vt:lpstr>
      <vt:lpstr>Estimation</vt:lpstr>
      <vt:lpstr>Structural Model: Validation</vt:lpstr>
      <vt:lpstr>Model Fit (predicted vs. observed genre demand)</vt:lpstr>
      <vt:lpstr>Estimation Results</vt:lpstr>
      <vt:lpstr>Counterfactual Simulations</vt:lpstr>
      <vt:lpstr>Structural Model: Results I  (RQ1)</vt:lpstr>
      <vt:lpstr>RQ1.1: The Effect of Discovery Channel - Demand</vt:lpstr>
      <vt:lpstr>RQ1.1: The Effect of Discovery Channel - Demand</vt:lpstr>
      <vt:lpstr>RQ1.2: The Effect of Discovery Channel - Market Concentration</vt:lpstr>
      <vt:lpstr>RQ1.3: The Effect of Discovery Channel – Consumer Welfare</vt:lpstr>
      <vt:lpstr>Structural Model: Results II  (RQ2)</vt:lpstr>
      <vt:lpstr>RQ2.1: The Design of Discover Channel - Friction</vt:lpstr>
      <vt:lpstr>RQ2.2: Alternative Designs</vt:lpstr>
      <vt:lpstr>RQ2.2: Alternative Designs</vt:lpstr>
      <vt:lpstr>Conclusions</vt:lpstr>
      <vt:lpstr>Summary</vt:lpstr>
      <vt:lpstr>Thank You!</vt:lpstr>
      <vt:lpstr>PowerPoint Presentation</vt:lpstr>
      <vt:lpstr>Appendix</vt:lpstr>
      <vt:lpstr>Exposure Rule</vt:lpstr>
      <vt:lpstr>Stacked DiD Design</vt:lpstr>
      <vt:lpstr>Descriptive Statistics</vt:lpstr>
      <vt:lpstr>Genre-level Analysis</vt:lpstr>
      <vt:lpstr>Discussions of Model Formulation</vt:lpstr>
      <vt:lpstr>Identification Check</vt:lpstr>
      <vt:lpstr>Estimation Process</vt:lpstr>
      <vt:lpstr>Model Fit (Alternative Settings)</vt:lpstr>
      <vt:lpstr>Shapes of Visibility Shocks</vt:lpstr>
      <vt:lpstr>Using Wayback Machine to Infer Total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Product Visibility in Digital Cultural Marketplaces</dc:title>
  <dc:creator>Hu, Zijing</dc:creator>
  <cp:lastModifiedBy>Hu, Zijing</cp:lastModifiedBy>
  <cp:revision>22</cp:revision>
  <cp:lastPrinted>2026-10-18T01:07:31Z</cp:lastPrinted>
  <dcterms:created xsi:type="dcterms:W3CDTF">2026-10-07T20:29:45Z</dcterms:created>
  <dcterms:modified xsi:type="dcterms:W3CDTF">2026-10-18T04:03:24Z</dcterms:modified>
</cp:coreProperties>
</file>